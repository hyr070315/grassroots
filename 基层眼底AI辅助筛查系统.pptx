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2.svg" ContentType="image/svg+xml"/>
  <Override PartName="/ppt/media/image-12-2.svg" ContentType="image/svg+xml"/>
  <Override PartName="/ppt/media/image-13-2.svg" ContentType="image/svg+xml"/>
  <Override PartName="/ppt/media/image-2-2.svg" ContentType="image/svg+xml"/>
  <Override PartName="/ppt/media/image-4-10.svg" ContentType="image/svg+xml"/>
  <Override PartName="/ppt/media/image-4-2.svg" ContentType="image/svg+xml"/>
  <Override PartName="/ppt/media/image-4-4.svg" ContentType="image/svg+xml"/>
  <Override PartName="/ppt/media/image-4-6.svg" ContentType="image/svg+xml"/>
  <Override PartName="/ppt/media/image-4-8.svg" ContentType="image/svg+xml"/>
  <Override PartName="/ppt/media/image-6-2.svg" ContentType="image/svg+xml"/>
  <Override PartName="/ppt/media/image-7-2.svg" ContentType="image/svg+xml"/>
  <Override PartName="/ppt/media/image-7-4.svg" ContentType="image/svg+xml"/>
  <Override PartName="/ppt/media/image-8-2.svg" ContentType="image/svg+xml"/>
  <Override PartName="/ppt/media/image-8-4.svg" ContentType="image/svg+xml"/>
  <Override PartName="/ppt/media/image-9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Noto Sans SC"/>
      <p:regular r:id="rId201314"/>
      <p:bold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各位评委、技术同学，大家好。今天答辩的主题是《基层眼底 AI 辅助筛查系统 · 纯前端版》。本项目的核心探索点在于将 AI 模型推理完全前置到浏览器端，旨在为基层医疗提供零后端依赖、保护数据隐私的轻量化筛查方案。接下来，我将围绕系统整体架构、前端模型部署、推理性能优化及实际测试效果几个维度展开汇报。答辩正式开始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各位评委好，今天答辩的主题是基层眼底AI辅助筛查系统的纯前端版。在基层医疗场景中，传统AI筛查常面临网络环境差、数据隐私合规要求高以及服务器部署成本重等痛点。为此，我们采用纯前端架构，将模型推理完全置于浏览器端运行，实现零后端依赖。这一方案不仅大幅降低了基层机构的硬件与部署门槛，更从物理层面保障了患者眼底数据的隐私安全。接下来我将从技术选型、模型轻量化及前端工程化三个维度展开汇报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各位评委，接下来看系统架构。针对基层设备性能差、网络不稳定的问题，我们采用了纯前端架构。AI推理模型通过WebAssembly和ONNX Runtime直接在浏览器内运行，完全脱离后端。这样做有两个核心优势：一是零服务器部署，极大降低了基层落地成本；二是图像数据不出端，从物理层面解决了医疗数据隐私合规问题。下面具体汇报技术选型与实现细节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各位评委，这一页重点展示系统的纯前端架构设计。考虑到基层网络环境不稳定，我们将核心 AI 模型转为 ONNX 格式，直接在浏览器端通过 WebAssembly 加载推理，彻底摆脱后端服务依赖。图像预处理与可视化则利用 Canvas 和 WebGL 进行加速。这种端侧部署方案不仅实现了数据不出本机的隐私安全，还极大降低了基层医院的部署与运维成本。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这一页我们看核心的前端推理架构。考虑到基层设备限制，我们直接在浏览器端通过 ONNX Runtime Web 加载轻量化模型。为避免阻塞 UI 渲染，图像预处理和推理均置于 Web Worker 中执行。结合 Canvas API 实现病灶可视化，单次推理耗时在普通 PC 上稳定在 500 毫秒以内。这套纯前端方案不仅省去了服务器算力成本，也规避了医疗数据上传的隐私合规风险。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这一页我们来看核心的技术方案。为了实现纯前端运行，我们将训练好的眼底病变识别模型转换为ONNX格式，利用ONNX Runtime Web结合WebAssembly技术，在浏览器端直接加载并执行推理。这种架构让基层医疗机构无需配置独立GPU服务器，普通PC机即可完成AI辅助筛查。这不仅把硬件部署成本降到了最低，更重要的是，眼底图像数据全程不出本地，从物理层面杜绝了患者隐私泄露风险，完全符合医疗数据安全合规要求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各位评委，这页是核心架构。为实现纯前端推理，我们直接在浏览器内加载ONNX模型，摒弃传统后端API。技术上采用WebAssembly加速张量计算，并用Web Worker开启多线程推理，确保不阻塞UI主线程渲染。这不仅将服务器算力成本降为零，更实现了眼底图像数据“可用不可见”，全程不出端，保障隐私。实测主流PC端单图推理耗时在500毫秒内，完全满足基层实时筛查要求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各位评委，这一页展示系统的核心架构设计。考虑到基层网络环境差及数据隐私要求，我们采用纯前端推理方案。模型经量化压缩后，通过ONNX Runtime Web在浏览器端加载，结合WebAssembly与WebGL进行异构加速。实测在普通基层设备上，单张眼底图像推理仅需数百毫秒，且完全离线可用。这一方案不仅实现了零服务器算力成本，还确保了患者数据不出端。下面请看具体的性能对比数据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这一页我们看前端推理的性能优化。为解决浏览器加载大模型的卡顿问题，我们采用了WebAssembly结合Web Worker的方案。主线程专注UI渲染，图像预处理和模型推理全丢给Worker线程。实测显示，单张眼底图从加载到输出病灶掩码，端侧耗时控制在800毫秒以内。这不仅避免了主线程阻塞，还省去了服务端推理的带宽开销。这套方案在低配基层设备上也能稳定运行，完全满足筛查的实时性要求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各位评委，本页展示纯前端架构的核心实现。为解决基层网络不稳定问题，我们将AI推理完全下沉至浏览器端。通过WebAssembly加载ONNX Runtime，并结合WebGL进行算子加速，在普通PC上实现单张眼底图推理仅需200毫秒。该方案不仅零服务器部署成本，且数据全程不出端，保障了患者隐私。下面请看具体的性能压测数据。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这一页我们看下纯前端推理的性能优化。针对基层设备算力有限的痛点，我们将模型量化至int8，并引入WebAssembly加速卷积运算。实测在普通i5浏览器环境下，单张眼底图推理耗时从800ms降至200ms内，峰值内存控制在150MB。该方案不仅满足基层门诊的实时响应需求，更实现了零后端算力依赖，大幅降低了系统部署与运维成本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各位评委好，这一页展示的是系统的核心性能指标。由于采用纯前端架构，AI模型推理完全在浏览器侧完成。结合WebGPU和WASM技术，我们实现了模型的加速加载与执行。实测中，单张眼底图像推理耗时稳定在200毫秒以内，且零服务端算力消耗。这不仅大幅降低了部署成本，也彻底解决了基层网络延迟导致的效率瓶颈。接下来看下一页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这一页我们看纯前端方案的核心优势。借助 WebAssembly 加速，AI 推理完全在浏览器端执行，实现了零云端算力依赖。这不仅大幅降低了基层医疗机构的部署成本，还确保了眼底图像本地化处理，彻底规避了数据隐私合规风险。下一步，我们计划探索 WebGPU 以进一步提升推理性能，并尝试模型更极致的轻量化。以上就是我的答辩全部内容，感谢各位评委聆听，请批评指正。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AI生成</a:t>
            </a:r>
          </a:p>
          <a:p>
            <a:r>
              <a:rPr lang="en-US" dirty="0"/>
              <a:t/>
            </a:r>
          </a:p>
          <a:p>
            <a:r>
              <a:rPr lang="en-US" dirty="0"/>
              <a:t>以上就是我答辩的全部内容。总结来说，本项目通过纯前端架构实现了眼底AI筛查的零部署门槛与数据隐私保护，切实契合了基层医疗的实际痛点。感谢各位评委的聆听，汇报完毕，欢迎随时提问与交流。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6357938" y="2571750"/>
            <a:ext cx="2143125" cy="0"/>
          </a:xfrm>
          <a:prstGeom prst="line">
            <a:avLst/>
          </a:prstGeom>
          <a:noFill/>
          <a:ln w="6350">
            <a:solidFill>
              <a:srgbClr val="0F4C8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29500" y="1500188"/>
            <a:ext cx="0" cy="2143125"/>
          </a:xfrm>
          <a:prstGeom prst="line">
            <a:avLst/>
          </a:prstGeom>
          <a:noFill/>
          <a:ln w="6350">
            <a:solidFill>
              <a:srgbClr val="0F4C8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07969" y="1750219"/>
            <a:ext cx="1643063" cy="1643063"/>
          </a:xfrm>
          <a:prstGeom prst="line">
            <a:avLst/>
          </a:prstGeom>
          <a:noFill/>
          <a:ln w="6350">
            <a:solidFill>
              <a:srgbClr val="0F4C81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6607969" y="1750219"/>
            <a:ext cx="1643063" cy="1643063"/>
          </a:xfrm>
          <a:prstGeom prst="line">
            <a:avLst/>
          </a:prstGeom>
          <a:noFill/>
          <a:ln w="6350">
            <a:solidFill>
              <a:srgbClr val="0F4C81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7938" y="1500188"/>
            <a:ext cx="2143125" cy="2143125"/>
          </a:xfrm>
          <a:prstGeom prst="ellipse">
            <a:avLst/>
          </a:prstGeom>
          <a:noFill/>
          <a:ln w="6350">
            <a:solidFill>
              <a:srgbClr val="0F4C81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1714500"/>
            <a:ext cx="1714500" cy="1714500"/>
          </a:xfrm>
          <a:prstGeom prst="ellipse">
            <a:avLst/>
          </a:prstGeom>
          <a:noFill/>
          <a:ln w="6350">
            <a:solidFill>
              <a:srgbClr val="0F4C81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86563" y="1928813"/>
            <a:ext cx="1285875" cy="1285875"/>
          </a:xfrm>
          <a:prstGeom prst="ellipse">
            <a:avLst/>
          </a:prstGeom>
          <a:noFill/>
          <a:ln w="9525">
            <a:solidFill>
              <a:srgbClr val="0F4C81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00875" y="2143125"/>
            <a:ext cx="857250" cy="857250"/>
          </a:xfrm>
          <a:prstGeom prst="ellipse">
            <a:avLst/>
          </a:prstGeom>
          <a:noFill/>
          <a:ln w="12700">
            <a:solidFill>
              <a:srgbClr val="14B8A6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9469" y="2321719"/>
            <a:ext cx="500063" cy="500063"/>
          </a:xfrm>
          <a:prstGeom prst="ellipse">
            <a:avLst/>
          </a:prstGeom>
          <a:noFill/>
          <a:ln w="1270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29488" y="2471738"/>
            <a:ext cx="200025" cy="200025"/>
          </a:xfrm>
          <a:prstGeom prst="ellipse">
            <a:avLst/>
          </a:prstGeom>
          <a:solidFill>
            <a:srgbClr val="0F4C81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86638" y="2528888"/>
            <a:ext cx="85725" cy="85725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00875" y="2107406"/>
            <a:ext cx="428625" cy="464344"/>
          </a:xfrm>
          <a:custGeom>
            <a:avLst/>
            <a:gdLst/>
            <a:ahLst/>
            <a:cxnLst/>
            <a:rect l="l" t="t" r="r" b="b"/>
            <a:pathLst>
              <a:path w="428625" h="464344">
                <a:moveTo>
                  <a:pt x="428625" y="464344"/>
                </a:moveTo>
                <a:quadBezTo>
                  <a:pt x="214313" y="178594"/>
                  <a:pt x="0" y="0"/>
                </a:quadBezTo>
              </a:path>
            </a:pathLst>
          </a:custGeom>
          <a:noFill/>
          <a:ln w="9525">
            <a:solidFill>
              <a:srgbClr val="0F4C81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9500" y="2071688"/>
            <a:ext cx="428625" cy="500063"/>
          </a:xfrm>
          <a:custGeom>
            <a:avLst/>
            <a:gdLst/>
            <a:ahLst/>
            <a:cxnLst/>
            <a:rect l="l" t="t" r="r" b="b"/>
            <a:pathLst>
              <a:path w="428625" h="500063">
                <a:moveTo>
                  <a:pt x="0" y="500063"/>
                </a:moveTo>
                <a:quadBezTo>
                  <a:pt x="214313" y="214313"/>
                  <a:pt x="428625" y="0"/>
                </a:quadBezTo>
              </a:path>
            </a:pathLst>
          </a:custGeom>
          <a:noFill/>
          <a:ln w="9525">
            <a:solidFill>
              <a:srgbClr val="0F4C81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72313" y="2571750"/>
            <a:ext cx="357188" cy="464344"/>
          </a:xfrm>
          <a:custGeom>
            <a:avLst/>
            <a:gdLst/>
            <a:ahLst/>
            <a:cxnLst/>
            <a:rect l="l" t="t" r="r" b="b"/>
            <a:pathLst>
              <a:path w="357188" h="464344">
                <a:moveTo>
                  <a:pt x="357188" y="0"/>
                </a:moveTo>
                <a:quadBezTo>
                  <a:pt x="178594" y="250031"/>
                  <a:pt x="0" y="464344"/>
                </a:quadBezTo>
              </a:path>
            </a:pathLst>
          </a:custGeom>
          <a:noFill/>
          <a:ln w="9525">
            <a:solidFill>
              <a:srgbClr val="0F4C81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29500" y="2571750"/>
            <a:ext cx="464344" cy="500063"/>
          </a:xfrm>
          <a:custGeom>
            <a:avLst/>
            <a:gdLst/>
            <a:ahLst/>
            <a:cxnLst/>
            <a:rect l="l" t="t" r="r" b="b"/>
            <a:pathLst>
              <a:path w="464344" h="500063">
                <a:moveTo>
                  <a:pt x="0" y="0"/>
                </a:moveTo>
                <a:quadBezTo>
                  <a:pt x="214313" y="285750"/>
                  <a:pt x="464344" y="500063"/>
                </a:quadBezTo>
              </a:path>
            </a:pathLst>
          </a:custGeom>
          <a:noFill/>
          <a:ln w="9525">
            <a:solidFill>
              <a:srgbClr val="0F4C81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22406" y="2536031"/>
            <a:ext cx="71438" cy="7143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Shape 18"/>
          <p:cNvSpPr/>
          <p:nvPr/>
        </p:nvSpPr>
        <p:spPr>
          <a:xfrm>
            <a:off x="7400925" y="2114550"/>
            <a:ext cx="57150" cy="57150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79456" y="2864644"/>
            <a:ext cx="57150" cy="57150"/>
          </a:xfrm>
          <a:prstGeom prst="ellipse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29538" y="2907506"/>
            <a:ext cx="42863" cy="42863"/>
          </a:xfrm>
          <a:prstGeom prst="ellipse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2486025"/>
            <a:ext cx="171450" cy="171450"/>
          </a:xfrm>
          <a:prstGeom prst="ellipse">
            <a:avLst/>
          </a:prstGeom>
          <a:noFill/>
          <a:ln w="635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8063" y="2071688"/>
            <a:ext cx="142875" cy="142875"/>
          </a:xfrm>
          <a:prstGeom prst="ellips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506" y="1547292"/>
            <a:ext cx="157163" cy="128588"/>
          </a:xfrm>
          <a:custGeom>
            <a:avLst/>
            <a:gdLst/>
            <a:ahLst/>
            <a:cxnLst/>
            <a:rect l="l" t="t" r="r" b="b"/>
            <a:pathLst>
              <a:path w="157163" h="128588">
                <a:moveTo>
                  <a:pt x="0" y="64294"/>
                </a:moveTo>
                <a:lnTo>
                  <a:pt x="213" y="63828"/>
                </a:lnTo>
                <a:lnTo>
                  <a:pt x="850" y="62494"/>
                </a:lnTo>
                <a:lnTo>
                  <a:pt x="1905" y="60388"/>
                </a:lnTo>
                <a:lnTo>
                  <a:pt x="3372" y="57607"/>
                </a:lnTo>
                <a:lnTo>
                  <a:pt x="5246" y="54248"/>
                </a:lnTo>
                <a:lnTo>
                  <a:pt x="7522" y="50406"/>
                </a:lnTo>
                <a:lnTo>
                  <a:pt x="10195" y="46179"/>
                </a:lnTo>
                <a:lnTo>
                  <a:pt x="13259" y="41662"/>
                </a:lnTo>
                <a:lnTo>
                  <a:pt x="16708" y="36953"/>
                </a:lnTo>
                <a:lnTo>
                  <a:pt x="20538" y="32147"/>
                </a:lnTo>
                <a:lnTo>
                  <a:pt x="24743" y="27341"/>
                </a:lnTo>
                <a:lnTo>
                  <a:pt x="29318" y="22631"/>
                </a:lnTo>
                <a:lnTo>
                  <a:pt x="34257" y="18115"/>
                </a:lnTo>
                <a:lnTo>
                  <a:pt x="39555" y="13887"/>
                </a:lnTo>
                <a:lnTo>
                  <a:pt x="45207" y="10046"/>
                </a:lnTo>
                <a:lnTo>
                  <a:pt x="51206" y="6687"/>
                </a:lnTo>
                <a:lnTo>
                  <a:pt x="57549" y="3906"/>
                </a:lnTo>
                <a:lnTo>
                  <a:pt x="64229" y="1800"/>
                </a:lnTo>
                <a:lnTo>
                  <a:pt x="71242" y="466"/>
                </a:lnTo>
                <a:lnTo>
                  <a:pt x="78581" y="0"/>
                </a:lnTo>
                <a:lnTo>
                  <a:pt x="85921" y="466"/>
                </a:lnTo>
                <a:lnTo>
                  <a:pt x="92933" y="1800"/>
                </a:lnTo>
                <a:lnTo>
                  <a:pt x="99613" y="3906"/>
                </a:lnTo>
                <a:lnTo>
                  <a:pt x="105956" y="6687"/>
                </a:lnTo>
                <a:lnTo>
                  <a:pt x="111956" y="10046"/>
                </a:lnTo>
                <a:lnTo>
                  <a:pt x="117608" y="13887"/>
                </a:lnTo>
                <a:lnTo>
                  <a:pt x="122906" y="18115"/>
                </a:lnTo>
                <a:lnTo>
                  <a:pt x="127845" y="22631"/>
                </a:lnTo>
                <a:lnTo>
                  <a:pt x="132419" y="27341"/>
                </a:lnTo>
                <a:lnTo>
                  <a:pt x="136624" y="32147"/>
                </a:lnTo>
                <a:lnTo>
                  <a:pt x="140454" y="36953"/>
                </a:lnTo>
                <a:lnTo>
                  <a:pt x="143904" y="41662"/>
                </a:lnTo>
                <a:lnTo>
                  <a:pt x="146967" y="46179"/>
                </a:lnTo>
                <a:lnTo>
                  <a:pt x="149640" y="50406"/>
                </a:lnTo>
                <a:lnTo>
                  <a:pt x="151916" y="54248"/>
                </a:lnTo>
                <a:lnTo>
                  <a:pt x="153791" y="57607"/>
                </a:lnTo>
                <a:lnTo>
                  <a:pt x="155258" y="60388"/>
                </a:lnTo>
                <a:lnTo>
                  <a:pt x="156312" y="62494"/>
                </a:lnTo>
                <a:lnTo>
                  <a:pt x="156949" y="63828"/>
                </a:lnTo>
                <a:lnTo>
                  <a:pt x="157163" y="64294"/>
                </a:lnTo>
                <a:lnTo>
                  <a:pt x="156949" y="64760"/>
                </a:lnTo>
                <a:lnTo>
                  <a:pt x="156312" y="66094"/>
                </a:lnTo>
                <a:lnTo>
                  <a:pt x="155258" y="68200"/>
                </a:lnTo>
                <a:lnTo>
                  <a:pt x="153791" y="70980"/>
                </a:lnTo>
                <a:lnTo>
                  <a:pt x="151916" y="74340"/>
                </a:lnTo>
                <a:lnTo>
                  <a:pt x="149640" y="78181"/>
                </a:lnTo>
                <a:lnTo>
                  <a:pt x="146967" y="82409"/>
                </a:lnTo>
                <a:lnTo>
                  <a:pt x="143904" y="86925"/>
                </a:lnTo>
                <a:lnTo>
                  <a:pt x="140454" y="91635"/>
                </a:lnTo>
                <a:lnTo>
                  <a:pt x="136624" y="96441"/>
                </a:lnTo>
                <a:lnTo>
                  <a:pt x="132419" y="101247"/>
                </a:lnTo>
                <a:lnTo>
                  <a:pt x="127845" y="105956"/>
                </a:lnTo>
                <a:lnTo>
                  <a:pt x="122906" y="110473"/>
                </a:lnTo>
                <a:lnTo>
                  <a:pt x="117608" y="114700"/>
                </a:lnTo>
                <a:lnTo>
                  <a:pt x="111956" y="118542"/>
                </a:lnTo>
                <a:lnTo>
                  <a:pt x="105956" y="121901"/>
                </a:lnTo>
                <a:lnTo>
                  <a:pt x="99613" y="124682"/>
                </a:lnTo>
                <a:lnTo>
                  <a:pt x="92933" y="126787"/>
                </a:lnTo>
                <a:lnTo>
                  <a:pt x="85921" y="128121"/>
                </a:lnTo>
                <a:lnTo>
                  <a:pt x="78581" y="128588"/>
                </a:lnTo>
                <a:lnTo>
                  <a:pt x="71242" y="128121"/>
                </a:lnTo>
                <a:lnTo>
                  <a:pt x="64229" y="126787"/>
                </a:lnTo>
                <a:lnTo>
                  <a:pt x="57549" y="124682"/>
                </a:lnTo>
                <a:lnTo>
                  <a:pt x="51206" y="121901"/>
                </a:lnTo>
                <a:lnTo>
                  <a:pt x="45207" y="118542"/>
                </a:lnTo>
                <a:lnTo>
                  <a:pt x="39555" y="114700"/>
                </a:lnTo>
                <a:lnTo>
                  <a:pt x="34257" y="110473"/>
                </a:lnTo>
                <a:lnTo>
                  <a:pt x="29318" y="105956"/>
                </a:lnTo>
                <a:lnTo>
                  <a:pt x="24743" y="101247"/>
                </a:lnTo>
                <a:lnTo>
                  <a:pt x="20538" y="96441"/>
                </a:lnTo>
                <a:lnTo>
                  <a:pt x="16708" y="91635"/>
                </a:lnTo>
                <a:lnTo>
                  <a:pt x="13259" y="86925"/>
                </a:lnTo>
                <a:lnTo>
                  <a:pt x="10195" y="82409"/>
                </a:lnTo>
                <a:lnTo>
                  <a:pt x="7522" y="78181"/>
                </a:lnTo>
                <a:lnTo>
                  <a:pt x="5246" y="74340"/>
                </a:lnTo>
                <a:lnTo>
                  <a:pt x="3372" y="70980"/>
                </a:lnTo>
                <a:lnTo>
                  <a:pt x="1905" y="68200"/>
                </a:lnTo>
                <a:lnTo>
                  <a:pt x="850" y="66094"/>
                </a:lnTo>
                <a:lnTo>
                  <a:pt x="213" y="64760"/>
                </a:lnTo>
                <a:lnTo>
                  <a:pt x="0" y="64294"/>
                </a:lnTo>
                <a:close/>
              </a:path>
            </a:pathLst>
          </a:cu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5084" y="1586582"/>
            <a:ext cx="50006" cy="5000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" y="2918892"/>
            <a:ext cx="400050" cy="21431"/>
          </a:xfrm>
          <a:prstGeom prst="roundRect">
            <a:avLst>
              <a:gd name="adj" fmla="val 533340"/>
            </a:avLst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679" y="1565151"/>
            <a:ext cx="1457325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FUNDUS AI SCREENING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71500" y="1997348"/>
            <a:ext cx="4572000" cy="3929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基层眼底 AI 辅助筛查系统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71500" y="2504554"/>
            <a:ext cx="4572000" cy="21431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零服务器部署的纯前端端侧推理方案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444" y="3140348"/>
            <a:ext cx="478631" cy="207169"/>
          </a:xfrm>
          <a:prstGeom prst="roundRect">
            <a:avLst>
              <a:gd name="adj" fmla="val 3044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  <p:txBody>
          <a:bodyPr wrap="none" lIns="97155" tIns="42505" rIns="97155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Vue 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06109" y="3140348"/>
            <a:ext cx="414338" cy="207169"/>
          </a:xfrm>
          <a:prstGeom prst="roundRect">
            <a:avLst>
              <a:gd name="adj" fmla="val 3044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  <p:txBody>
          <a:bodyPr wrap="none" lIns="97155" tIns="42505" rIns="97155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578099" y="3140348"/>
            <a:ext cx="821531" cy="207169"/>
          </a:xfrm>
          <a:prstGeom prst="roundRect">
            <a:avLst>
              <a:gd name="adj" fmla="val 3044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  <p:txBody>
          <a:bodyPr wrap="none" lIns="97155" tIns="42505" rIns="97155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Element Plus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57617" y="3140348"/>
            <a:ext cx="621506" cy="207169"/>
          </a:xfrm>
          <a:prstGeom prst="roundRect">
            <a:avLst>
              <a:gd name="adj" fmla="val 3044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  <p:txBody>
          <a:bodyPr wrap="none" lIns="97155" tIns="42505" rIns="97155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Tailwind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135492" y="3140348"/>
            <a:ext cx="1042988" cy="207169"/>
          </a:xfrm>
          <a:prstGeom prst="roundRect">
            <a:avLst>
              <a:gd name="adj" fmla="val 3044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  <p:txBody>
          <a:bodyPr wrap="none" lIns="97155" tIns="42505" rIns="97155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onnxruntime-web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71500" y="3489666"/>
            <a:ext cx="45720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纯浏览器端推理 · IndexedDB 本地存储 · 无后端服务器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72895" y="4772025"/>
            <a:ext cx="135016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技术答辩 · 纯前端端侧推理方案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  <p:sp>
        <p:nvSpPr>
          <p:cNvPr id="65536" name="TextBox 65535"/>
          <p:cNvSpPr txBox="1"/>
          <p:nvPr/>
        </p:nvSpPr>
        <p:spPr>
          <a:xfrm>
            <a:off x="7955280" y="4743450"/>
            <a:ext cx="109728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AI生成</a:t>
            </a:r>
          </a:p>
        </p:txBody>
      </p:sp>
      <p:sp>
        <p:nvSpPr>
          <p:cNvPr id="65537" name="TextBox 65536"/>
          <p:cNvSpPr txBox="1"/>
          <p:nvPr/>
        </p:nvSpPr>
        <p:spPr>
          <a:xfrm>
            <a:off x="7955280" y="4743450"/>
            <a:ext cx="109728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AI生成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2900"/>
            <a:ext cx="28575" cy="200025"/>
          </a:xfrm>
          <a:prstGeom prst="roundRect">
            <a:avLst>
              <a:gd name="adj" fmla="val 400000"/>
            </a:avLst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9055"/>
            <a:ext cx="4029075" cy="3157537"/>
          </a:xfrm>
          <a:prstGeom prst="roundRect">
            <a:avLst>
              <a:gd name="adj" fmla="val 786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794" y="1189434"/>
            <a:ext cx="314325" cy="314325"/>
          </a:xfrm>
          <a:prstGeom prst="roundRect">
            <a:avLst>
              <a:gd name="adj" fmla="val 13223"/>
            </a:avLst>
          </a:prstGeom>
          <a:solidFill>
            <a:srgbClr val="0F4C81"/>
          </a:solidFill>
          <a:ln/>
        </p:spPr>
      </p:sp>
      <p:sp>
        <p:nvSpPr>
          <p:cNvPr id="6" name="Shape 4"/>
          <p:cNvSpPr/>
          <p:nvPr/>
        </p:nvSpPr>
        <p:spPr>
          <a:xfrm>
            <a:off x="771525" y="1325166"/>
            <a:ext cx="42863" cy="42863"/>
          </a:xfrm>
          <a:prstGeom prst="ellips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1519" y="1303734"/>
            <a:ext cx="142875" cy="85725"/>
          </a:xfrm>
          <a:custGeom>
            <a:avLst/>
            <a:gdLst/>
            <a:ahLst/>
            <a:cxnLst/>
            <a:rect l="l" t="t" r="r" b="b"/>
            <a:pathLst>
              <a:path w="142875" h="85725">
                <a:moveTo>
                  <a:pt x="142875" y="42863"/>
                </a:moveTo>
                <a:lnTo>
                  <a:pt x="139944" y="38683"/>
                </a:lnTo>
                <a:lnTo>
                  <a:pt x="136882" y="34719"/>
                </a:lnTo>
                <a:lnTo>
                  <a:pt x="133699" y="30968"/>
                </a:lnTo>
                <a:lnTo>
                  <a:pt x="130405" y="27432"/>
                </a:lnTo>
                <a:lnTo>
                  <a:pt x="127011" y="24110"/>
                </a:lnTo>
                <a:lnTo>
                  <a:pt x="123529" y="21003"/>
                </a:lnTo>
                <a:lnTo>
                  <a:pt x="119968" y="18109"/>
                </a:lnTo>
                <a:lnTo>
                  <a:pt x="116340" y="15431"/>
                </a:lnTo>
                <a:lnTo>
                  <a:pt x="112655" y="12966"/>
                </a:lnTo>
                <a:lnTo>
                  <a:pt x="108924" y="10716"/>
                </a:lnTo>
                <a:lnTo>
                  <a:pt x="105158" y="8680"/>
                </a:lnTo>
                <a:lnTo>
                  <a:pt x="101367" y="6858"/>
                </a:lnTo>
                <a:lnTo>
                  <a:pt x="97562" y="5251"/>
                </a:lnTo>
                <a:lnTo>
                  <a:pt x="93754" y="3858"/>
                </a:lnTo>
                <a:lnTo>
                  <a:pt x="89953" y="2679"/>
                </a:lnTo>
                <a:lnTo>
                  <a:pt x="86171" y="1715"/>
                </a:lnTo>
                <a:lnTo>
                  <a:pt x="82417" y="964"/>
                </a:lnTo>
                <a:lnTo>
                  <a:pt x="78703" y="429"/>
                </a:lnTo>
                <a:lnTo>
                  <a:pt x="75040" y="107"/>
                </a:lnTo>
                <a:lnTo>
                  <a:pt x="71438" y="0"/>
                </a:lnTo>
                <a:lnTo>
                  <a:pt x="67835" y="107"/>
                </a:lnTo>
                <a:lnTo>
                  <a:pt x="64172" y="429"/>
                </a:lnTo>
                <a:lnTo>
                  <a:pt x="60458" y="964"/>
                </a:lnTo>
                <a:lnTo>
                  <a:pt x="56704" y="1715"/>
                </a:lnTo>
                <a:lnTo>
                  <a:pt x="52922" y="2679"/>
                </a:lnTo>
                <a:lnTo>
                  <a:pt x="49121" y="3858"/>
                </a:lnTo>
                <a:lnTo>
                  <a:pt x="45313" y="5251"/>
                </a:lnTo>
                <a:lnTo>
                  <a:pt x="41508" y="6858"/>
                </a:lnTo>
                <a:lnTo>
                  <a:pt x="37717" y="8680"/>
                </a:lnTo>
                <a:lnTo>
                  <a:pt x="33951" y="10716"/>
                </a:lnTo>
                <a:lnTo>
                  <a:pt x="30220" y="12966"/>
                </a:lnTo>
                <a:lnTo>
                  <a:pt x="26535" y="15431"/>
                </a:lnTo>
                <a:lnTo>
                  <a:pt x="22907" y="18109"/>
                </a:lnTo>
                <a:lnTo>
                  <a:pt x="19346" y="21003"/>
                </a:lnTo>
                <a:lnTo>
                  <a:pt x="15864" y="24110"/>
                </a:lnTo>
                <a:lnTo>
                  <a:pt x="12470" y="27432"/>
                </a:lnTo>
                <a:lnTo>
                  <a:pt x="9176" y="30968"/>
                </a:lnTo>
                <a:lnTo>
                  <a:pt x="5993" y="34719"/>
                </a:lnTo>
                <a:lnTo>
                  <a:pt x="2931" y="38683"/>
                </a:lnTo>
                <a:lnTo>
                  <a:pt x="0" y="42863"/>
                </a:lnTo>
                <a:lnTo>
                  <a:pt x="2931" y="47042"/>
                </a:lnTo>
                <a:lnTo>
                  <a:pt x="5993" y="51006"/>
                </a:lnTo>
                <a:lnTo>
                  <a:pt x="9176" y="54757"/>
                </a:lnTo>
                <a:lnTo>
                  <a:pt x="12470" y="58293"/>
                </a:lnTo>
                <a:lnTo>
                  <a:pt x="15864" y="61615"/>
                </a:lnTo>
                <a:lnTo>
                  <a:pt x="19346" y="64722"/>
                </a:lnTo>
                <a:lnTo>
                  <a:pt x="22907" y="67616"/>
                </a:lnTo>
                <a:lnTo>
                  <a:pt x="26535" y="70295"/>
                </a:lnTo>
                <a:lnTo>
                  <a:pt x="30220" y="72759"/>
                </a:lnTo>
                <a:lnTo>
                  <a:pt x="33951" y="75009"/>
                </a:lnTo>
                <a:lnTo>
                  <a:pt x="37717" y="77045"/>
                </a:lnTo>
                <a:lnTo>
                  <a:pt x="41508" y="78867"/>
                </a:lnTo>
                <a:lnTo>
                  <a:pt x="45313" y="80474"/>
                </a:lnTo>
                <a:lnTo>
                  <a:pt x="49121" y="81867"/>
                </a:lnTo>
                <a:lnTo>
                  <a:pt x="52922" y="83046"/>
                </a:lnTo>
                <a:lnTo>
                  <a:pt x="56704" y="84011"/>
                </a:lnTo>
                <a:lnTo>
                  <a:pt x="60458" y="84761"/>
                </a:lnTo>
                <a:lnTo>
                  <a:pt x="64172" y="85296"/>
                </a:lnTo>
                <a:lnTo>
                  <a:pt x="67835" y="85618"/>
                </a:lnTo>
                <a:lnTo>
                  <a:pt x="71438" y="85725"/>
                </a:lnTo>
                <a:lnTo>
                  <a:pt x="75040" y="85618"/>
                </a:lnTo>
                <a:lnTo>
                  <a:pt x="78703" y="85296"/>
                </a:lnTo>
                <a:lnTo>
                  <a:pt x="82417" y="84761"/>
                </a:lnTo>
                <a:lnTo>
                  <a:pt x="86171" y="84011"/>
                </a:lnTo>
                <a:lnTo>
                  <a:pt x="89953" y="83046"/>
                </a:lnTo>
                <a:lnTo>
                  <a:pt x="93754" y="81867"/>
                </a:lnTo>
                <a:lnTo>
                  <a:pt x="97562" y="80474"/>
                </a:lnTo>
                <a:lnTo>
                  <a:pt x="101367" y="78867"/>
                </a:lnTo>
                <a:lnTo>
                  <a:pt x="105158" y="77045"/>
                </a:lnTo>
                <a:lnTo>
                  <a:pt x="108924" y="75009"/>
                </a:lnTo>
                <a:lnTo>
                  <a:pt x="112655" y="72759"/>
                </a:lnTo>
                <a:lnTo>
                  <a:pt x="116340" y="70295"/>
                </a:lnTo>
                <a:lnTo>
                  <a:pt x="119968" y="67616"/>
                </a:lnTo>
                <a:lnTo>
                  <a:pt x="123529" y="64722"/>
                </a:lnTo>
                <a:lnTo>
                  <a:pt x="127011" y="61615"/>
                </a:lnTo>
                <a:lnTo>
                  <a:pt x="130405" y="58293"/>
                </a:lnTo>
                <a:lnTo>
                  <a:pt x="133699" y="54757"/>
                </a:lnTo>
                <a:lnTo>
                  <a:pt x="136882" y="51006"/>
                </a:lnTo>
                <a:lnTo>
                  <a:pt x="139944" y="47042"/>
                </a:lnTo>
                <a:lnTo>
                  <a:pt x="142875" y="42863"/>
                </a:lnTo>
                <a:close/>
              </a:path>
            </a:pathLst>
          </a:cu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5806" y="1289447"/>
            <a:ext cx="114300" cy="1143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794" y="1660922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635794" y="2071688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Shape 9"/>
          <p:cNvSpPr/>
          <p:nvPr/>
        </p:nvSpPr>
        <p:spPr>
          <a:xfrm>
            <a:off x="635794" y="2319933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4657725" y="1009055"/>
            <a:ext cx="4029075" cy="3157537"/>
          </a:xfrm>
          <a:prstGeom prst="roundRect">
            <a:avLst>
              <a:gd name="adj" fmla="val 786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36319" y="1189434"/>
            <a:ext cx="314325" cy="314325"/>
          </a:xfrm>
          <a:prstGeom prst="roundRect">
            <a:avLst>
              <a:gd name="adj" fmla="val 13223"/>
            </a:avLst>
          </a:prstGeom>
          <a:solidFill>
            <a:srgbClr val="14B8A6"/>
          </a:solidFill>
          <a:ln/>
        </p:spPr>
      </p:sp>
      <p:sp>
        <p:nvSpPr>
          <p:cNvPr id="14" name="Shape 12"/>
          <p:cNvSpPr/>
          <p:nvPr/>
        </p:nvSpPr>
        <p:spPr>
          <a:xfrm>
            <a:off x="4922044" y="1368028"/>
            <a:ext cx="100013" cy="42863"/>
          </a:xfrm>
          <a:custGeom>
            <a:avLst/>
            <a:gdLst/>
            <a:ahLst/>
            <a:cxnLst/>
            <a:rect l="l" t="t" r="r" b="b"/>
            <a:pathLst>
              <a:path w="100013" h="42863">
                <a:moveTo>
                  <a:pt x="100013" y="42863"/>
                </a:moveTo>
                <a:lnTo>
                  <a:pt x="100013" y="28575"/>
                </a:lnTo>
                <a:lnTo>
                  <a:pt x="99978" y="27173"/>
                </a:lnTo>
                <a:lnTo>
                  <a:pt x="99875" y="25774"/>
                </a:lnTo>
                <a:lnTo>
                  <a:pt x="99703" y="24382"/>
                </a:lnTo>
                <a:lnTo>
                  <a:pt x="99463" y="23000"/>
                </a:lnTo>
                <a:lnTo>
                  <a:pt x="99156" y="21632"/>
                </a:lnTo>
                <a:lnTo>
                  <a:pt x="98782" y="20280"/>
                </a:lnTo>
                <a:lnTo>
                  <a:pt x="98342" y="18948"/>
                </a:lnTo>
                <a:lnTo>
                  <a:pt x="97837" y="17640"/>
                </a:lnTo>
                <a:lnTo>
                  <a:pt x="97269" y="16358"/>
                </a:lnTo>
                <a:lnTo>
                  <a:pt x="96638" y="15105"/>
                </a:lnTo>
                <a:lnTo>
                  <a:pt x="95947" y="13885"/>
                </a:lnTo>
                <a:lnTo>
                  <a:pt x="95197" y="12700"/>
                </a:lnTo>
                <a:lnTo>
                  <a:pt x="94389" y="11553"/>
                </a:lnTo>
                <a:lnTo>
                  <a:pt x="93526" y="10447"/>
                </a:lnTo>
                <a:lnTo>
                  <a:pt x="92610" y="9385"/>
                </a:lnTo>
                <a:lnTo>
                  <a:pt x="91643" y="8369"/>
                </a:lnTo>
                <a:lnTo>
                  <a:pt x="90627" y="7402"/>
                </a:lnTo>
                <a:lnTo>
                  <a:pt x="89565" y="6486"/>
                </a:lnTo>
                <a:lnTo>
                  <a:pt x="88460" y="5623"/>
                </a:lnTo>
                <a:lnTo>
                  <a:pt x="87313" y="4816"/>
                </a:lnTo>
                <a:lnTo>
                  <a:pt x="86128" y="4065"/>
                </a:lnTo>
                <a:lnTo>
                  <a:pt x="84908" y="3374"/>
                </a:lnTo>
                <a:lnTo>
                  <a:pt x="83655" y="2744"/>
                </a:lnTo>
                <a:lnTo>
                  <a:pt x="82373" y="2175"/>
                </a:lnTo>
                <a:lnTo>
                  <a:pt x="81064" y="1670"/>
                </a:lnTo>
                <a:lnTo>
                  <a:pt x="79732" y="1230"/>
                </a:lnTo>
                <a:lnTo>
                  <a:pt x="78381" y="856"/>
                </a:lnTo>
                <a:lnTo>
                  <a:pt x="77012" y="549"/>
                </a:lnTo>
                <a:lnTo>
                  <a:pt x="75630" y="309"/>
                </a:lnTo>
                <a:lnTo>
                  <a:pt x="74238" y="138"/>
                </a:lnTo>
                <a:lnTo>
                  <a:pt x="72840" y="34"/>
                </a:lnTo>
                <a:lnTo>
                  <a:pt x="71438" y="0"/>
                </a:lnTo>
                <a:lnTo>
                  <a:pt x="28575" y="0"/>
                </a:lnTo>
                <a:lnTo>
                  <a:pt x="27173" y="34"/>
                </a:lnTo>
                <a:lnTo>
                  <a:pt x="25774" y="138"/>
                </a:lnTo>
                <a:lnTo>
                  <a:pt x="24382" y="309"/>
                </a:lnTo>
                <a:lnTo>
                  <a:pt x="23000" y="549"/>
                </a:lnTo>
                <a:lnTo>
                  <a:pt x="21632" y="856"/>
                </a:lnTo>
                <a:lnTo>
                  <a:pt x="20280" y="1230"/>
                </a:lnTo>
                <a:lnTo>
                  <a:pt x="18948" y="1670"/>
                </a:lnTo>
                <a:lnTo>
                  <a:pt x="17640" y="2175"/>
                </a:lnTo>
                <a:lnTo>
                  <a:pt x="16358" y="2744"/>
                </a:lnTo>
                <a:lnTo>
                  <a:pt x="15105" y="3374"/>
                </a:lnTo>
                <a:lnTo>
                  <a:pt x="13885" y="4065"/>
                </a:lnTo>
                <a:lnTo>
                  <a:pt x="12700" y="4816"/>
                </a:lnTo>
                <a:lnTo>
                  <a:pt x="11553" y="5623"/>
                </a:lnTo>
                <a:lnTo>
                  <a:pt x="10447" y="6486"/>
                </a:lnTo>
                <a:lnTo>
                  <a:pt x="9385" y="7402"/>
                </a:lnTo>
                <a:lnTo>
                  <a:pt x="8369" y="8369"/>
                </a:lnTo>
                <a:lnTo>
                  <a:pt x="7402" y="9385"/>
                </a:lnTo>
                <a:lnTo>
                  <a:pt x="6486" y="10447"/>
                </a:lnTo>
                <a:lnTo>
                  <a:pt x="5623" y="11553"/>
                </a:lnTo>
                <a:lnTo>
                  <a:pt x="4816" y="12700"/>
                </a:lnTo>
                <a:lnTo>
                  <a:pt x="4065" y="13885"/>
                </a:lnTo>
                <a:lnTo>
                  <a:pt x="3374" y="15105"/>
                </a:lnTo>
                <a:lnTo>
                  <a:pt x="2744" y="16358"/>
                </a:lnTo>
                <a:lnTo>
                  <a:pt x="2175" y="17640"/>
                </a:lnTo>
                <a:lnTo>
                  <a:pt x="1670" y="18948"/>
                </a:lnTo>
                <a:lnTo>
                  <a:pt x="1230" y="20280"/>
                </a:lnTo>
                <a:lnTo>
                  <a:pt x="856" y="21632"/>
                </a:lnTo>
                <a:lnTo>
                  <a:pt x="549" y="23000"/>
                </a:lnTo>
                <a:lnTo>
                  <a:pt x="309" y="24382"/>
                </a:lnTo>
                <a:lnTo>
                  <a:pt x="138" y="25774"/>
                </a:lnTo>
                <a:lnTo>
                  <a:pt x="34" y="27173"/>
                </a:lnTo>
                <a:lnTo>
                  <a:pt x="0" y="28575"/>
                </a:lnTo>
                <a:lnTo>
                  <a:pt x="0" y="42863"/>
                </a:lnTo>
              </a:path>
            </a:pathLst>
          </a:cu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43475" y="1282303"/>
            <a:ext cx="57150" cy="57150"/>
          </a:xfrm>
          <a:prstGeom prst="ellips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3488" y="1368957"/>
            <a:ext cx="21431" cy="41934"/>
          </a:xfrm>
          <a:custGeom>
            <a:avLst/>
            <a:gdLst/>
            <a:ahLst/>
            <a:cxnLst/>
            <a:rect l="l" t="t" r="r" b="b"/>
            <a:pathLst>
              <a:path w="21431" h="41934">
                <a:moveTo>
                  <a:pt x="21431" y="41934"/>
                </a:moveTo>
                <a:lnTo>
                  <a:pt x="21431" y="27646"/>
                </a:lnTo>
                <a:lnTo>
                  <a:pt x="21406" y="26470"/>
                </a:lnTo>
                <a:lnTo>
                  <a:pt x="21333" y="25296"/>
                </a:lnTo>
                <a:lnTo>
                  <a:pt x="21211" y="24126"/>
                </a:lnTo>
                <a:lnTo>
                  <a:pt x="21041" y="22962"/>
                </a:lnTo>
                <a:lnTo>
                  <a:pt x="20824" y="21806"/>
                </a:lnTo>
                <a:lnTo>
                  <a:pt x="20559" y="20660"/>
                </a:lnTo>
                <a:lnTo>
                  <a:pt x="20247" y="19526"/>
                </a:lnTo>
                <a:lnTo>
                  <a:pt x="19889" y="18406"/>
                </a:lnTo>
                <a:lnTo>
                  <a:pt x="19485" y="17301"/>
                </a:lnTo>
                <a:lnTo>
                  <a:pt x="19035" y="16214"/>
                </a:lnTo>
                <a:lnTo>
                  <a:pt x="18542" y="15146"/>
                </a:lnTo>
                <a:lnTo>
                  <a:pt x="18005" y="14100"/>
                </a:lnTo>
                <a:lnTo>
                  <a:pt x="17425" y="13076"/>
                </a:lnTo>
                <a:lnTo>
                  <a:pt x="16804" y="12077"/>
                </a:lnTo>
                <a:lnTo>
                  <a:pt x="16142" y="11105"/>
                </a:lnTo>
                <a:lnTo>
                  <a:pt x="15440" y="10161"/>
                </a:lnTo>
                <a:lnTo>
                  <a:pt x="14701" y="9246"/>
                </a:lnTo>
                <a:lnTo>
                  <a:pt x="13924" y="8363"/>
                </a:lnTo>
                <a:lnTo>
                  <a:pt x="13112" y="7512"/>
                </a:lnTo>
                <a:lnTo>
                  <a:pt x="12265" y="6695"/>
                </a:lnTo>
                <a:lnTo>
                  <a:pt x="11385" y="5914"/>
                </a:lnTo>
                <a:lnTo>
                  <a:pt x="10474" y="5170"/>
                </a:lnTo>
                <a:lnTo>
                  <a:pt x="9533" y="4464"/>
                </a:lnTo>
                <a:lnTo>
                  <a:pt x="8564" y="3797"/>
                </a:lnTo>
                <a:lnTo>
                  <a:pt x="7569" y="3171"/>
                </a:lnTo>
                <a:lnTo>
                  <a:pt x="6548" y="2586"/>
                </a:lnTo>
                <a:lnTo>
                  <a:pt x="5504" y="2044"/>
                </a:lnTo>
                <a:lnTo>
                  <a:pt x="4439" y="1545"/>
                </a:lnTo>
                <a:lnTo>
                  <a:pt x="3354" y="1091"/>
                </a:lnTo>
                <a:lnTo>
                  <a:pt x="2251" y="681"/>
                </a:lnTo>
                <a:lnTo>
                  <a:pt x="1133" y="317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2056" y="1283232"/>
            <a:ext cx="21487" cy="55364"/>
          </a:xfrm>
          <a:custGeom>
            <a:avLst/>
            <a:gdLst/>
            <a:ahLst/>
            <a:cxnLst/>
            <a:rect l="l" t="t" r="r" b="b"/>
            <a:pathLst>
              <a:path w="21487" h="55364">
                <a:moveTo>
                  <a:pt x="0" y="0"/>
                </a:moveTo>
                <a:lnTo>
                  <a:pt x="1905" y="559"/>
                </a:lnTo>
                <a:lnTo>
                  <a:pt x="3766" y="1249"/>
                </a:lnTo>
                <a:lnTo>
                  <a:pt x="5575" y="2066"/>
                </a:lnTo>
                <a:lnTo>
                  <a:pt x="7323" y="3007"/>
                </a:lnTo>
                <a:lnTo>
                  <a:pt x="9001" y="4067"/>
                </a:lnTo>
                <a:lnTo>
                  <a:pt x="10602" y="5241"/>
                </a:lnTo>
                <a:lnTo>
                  <a:pt x="12117" y="6523"/>
                </a:lnTo>
                <a:lnTo>
                  <a:pt x="13540" y="7907"/>
                </a:lnTo>
                <a:lnTo>
                  <a:pt x="14863" y="9387"/>
                </a:lnTo>
                <a:lnTo>
                  <a:pt x="16080" y="10955"/>
                </a:lnTo>
                <a:lnTo>
                  <a:pt x="17185" y="12604"/>
                </a:lnTo>
                <a:lnTo>
                  <a:pt x="18174" y="14326"/>
                </a:lnTo>
                <a:lnTo>
                  <a:pt x="19040" y="16112"/>
                </a:lnTo>
                <a:lnTo>
                  <a:pt x="19780" y="17953"/>
                </a:lnTo>
                <a:lnTo>
                  <a:pt x="20391" y="19842"/>
                </a:lnTo>
                <a:lnTo>
                  <a:pt x="20869" y="21769"/>
                </a:lnTo>
                <a:lnTo>
                  <a:pt x="21212" y="23724"/>
                </a:lnTo>
                <a:lnTo>
                  <a:pt x="21418" y="25698"/>
                </a:lnTo>
                <a:lnTo>
                  <a:pt x="21487" y="27682"/>
                </a:lnTo>
                <a:lnTo>
                  <a:pt x="21418" y="29666"/>
                </a:lnTo>
                <a:lnTo>
                  <a:pt x="21212" y="31640"/>
                </a:lnTo>
                <a:lnTo>
                  <a:pt x="20869" y="33595"/>
                </a:lnTo>
                <a:lnTo>
                  <a:pt x="20391" y="35522"/>
                </a:lnTo>
                <a:lnTo>
                  <a:pt x="19780" y="37411"/>
                </a:lnTo>
                <a:lnTo>
                  <a:pt x="19040" y="39252"/>
                </a:lnTo>
                <a:lnTo>
                  <a:pt x="18174" y="41038"/>
                </a:lnTo>
                <a:lnTo>
                  <a:pt x="17185" y="42760"/>
                </a:lnTo>
                <a:lnTo>
                  <a:pt x="16080" y="44409"/>
                </a:lnTo>
                <a:lnTo>
                  <a:pt x="14863" y="45977"/>
                </a:lnTo>
                <a:lnTo>
                  <a:pt x="13540" y="47457"/>
                </a:lnTo>
                <a:lnTo>
                  <a:pt x="12117" y="48841"/>
                </a:lnTo>
                <a:lnTo>
                  <a:pt x="10602" y="50123"/>
                </a:lnTo>
                <a:lnTo>
                  <a:pt x="9001" y="51297"/>
                </a:lnTo>
                <a:lnTo>
                  <a:pt x="7323" y="52357"/>
                </a:lnTo>
                <a:lnTo>
                  <a:pt x="5575" y="53298"/>
                </a:lnTo>
                <a:lnTo>
                  <a:pt x="3766" y="54115"/>
                </a:lnTo>
                <a:lnTo>
                  <a:pt x="1905" y="54805"/>
                </a:lnTo>
                <a:lnTo>
                  <a:pt x="0" y="55364"/>
                </a:lnTo>
              </a:path>
            </a:pathLst>
          </a:cu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36319" y="1660922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36319" y="1909167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36319" y="2157413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307681"/>
            <a:ext cx="8229600" cy="428625"/>
          </a:xfrm>
          <a:prstGeom prst="roundRect">
            <a:avLst>
              <a:gd name="adj" fmla="val 10667"/>
            </a:avLst>
          </a:prstGeom>
          <a:solidFill>
            <a:srgbClr val="0F4C81"/>
          </a:solidFill>
          <a:ln/>
        </p:spPr>
      </p:sp>
      <p:sp>
        <p:nvSpPr>
          <p:cNvPr id="22" name="Shape 20"/>
          <p:cNvSpPr/>
          <p:nvPr/>
        </p:nvSpPr>
        <p:spPr>
          <a:xfrm>
            <a:off x="736997" y="4438650"/>
            <a:ext cx="58341" cy="58341"/>
          </a:xfrm>
          <a:custGeom>
            <a:avLst/>
            <a:gdLst/>
            <a:ahLst/>
            <a:cxnLst/>
            <a:rect l="l" t="t" r="r" b="b"/>
            <a:pathLst>
              <a:path w="58341" h="58341">
                <a:moveTo>
                  <a:pt x="0" y="0"/>
                </a:moveTo>
                <a:lnTo>
                  <a:pt x="0" y="58341"/>
                </a:lnTo>
                <a:lnTo>
                  <a:pt x="58341" y="58341"/>
                </a:lnTo>
              </a:path>
            </a:pathLst>
          </a:cu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1988" y="4438650"/>
            <a:ext cx="133350" cy="166688"/>
          </a:xfrm>
          <a:custGeom>
            <a:avLst/>
            <a:gdLst/>
            <a:ahLst/>
            <a:cxnLst/>
            <a:rect l="l" t="t" r="r" b="b"/>
            <a:pathLst>
              <a:path w="133350" h="166688">
                <a:moveTo>
                  <a:pt x="133350" y="58341"/>
                </a:moveTo>
                <a:lnTo>
                  <a:pt x="133350" y="150019"/>
                </a:lnTo>
                <a:lnTo>
                  <a:pt x="133330" y="150837"/>
                </a:lnTo>
                <a:lnTo>
                  <a:pt x="133270" y="151653"/>
                </a:lnTo>
                <a:lnTo>
                  <a:pt x="133170" y="152465"/>
                </a:lnTo>
                <a:lnTo>
                  <a:pt x="133030" y="153271"/>
                </a:lnTo>
                <a:lnTo>
                  <a:pt x="132850" y="154069"/>
                </a:lnTo>
                <a:lnTo>
                  <a:pt x="132632" y="154857"/>
                </a:lnTo>
                <a:lnTo>
                  <a:pt x="132376" y="155634"/>
                </a:lnTo>
                <a:lnTo>
                  <a:pt x="132081" y="156398"/>
                </a:lnTo>
                <a:lnTo>
                  <a:pt x="131750" y="157146"/>
                </a:lnTo>
                <a:lnTo>
                  <a:pt x="131382" y="157876"/>
                </a:lnTo>
                <a:lnTo>
                  <a:pt x="130979" y="158588"/>
                </a:lnTo>
                <a:lnTo>
                  <a:pt x="130541" y="159279"/>
                </a:lnTo>
                <a:lnTo>
                  <a:pt x="130070" y="159948"/>
                </a:lnTo>
                <a:lnTo>
                  <a:pt x="129566" y="160593"/>
                </a:lnTo>
                <a:lnTo>
                  <a:pt x="129032" y="161213"/>
                </a:lnTo>
                <a:lnTo>
                  <a:pt x="128468" y="161805"/>
                </a:lnTo>
                <a:lnTo>
                  <a:pt x="127875" y="162369"/>
                </a:lnTo>
                <a:lnTo>
                  <a:pt x="127256" y="162904"/>
                </a:lnTo>
                <a:lnTo>
                  <a:pt x="126611" y="163407"/>
                </a:lnTo>
                <a:lnTo>
                  <a:pt x="125942" y="163878"/>
                </a:lnTo>
                <a:lnTo>
                  <a:pt x="125251" y="164316"/>
                </a:lnTo>
                <a:lnTo>
                  <a:pt x="124539" y="164719"/>
                </a:lnTo>
                <a:lnTo>
                  <a:pt x="123808" y="165087"/>
                </a:lnTo>
                <a:lnTo>
                  <a:pt x="123060" y="165419"/>
                </a:lnTo>
                <a:lnTo>
                  <a:pt x="122297" y="165713"/>
                </a:lnTo>
                <a:lnTo>
                  <a:pt x="121520" y="165970"/>
                </a:lnTo>
                <a:lnTo>
                  <a:pt x="120731" y="166188"/>
                </a:lnTo>
                <a:lnTo>
                  <a:pt x="119933" y="166367"/>
                </a:lnTo>
                <a:lnTo>
                  <a:pt x="119127" y="166507"/>
                </a:lnTo>
                <a:lnTo>
                  <a:pt x="118315" y="166607"/>
                </a:lnTo>
                <a:lnTo>
                  <a:pt x="117499" y="166667"/>
                </a:lnTo>
                <a:lnTo>
                  <a:pt x="116681" y="166688"/>
                </a:lnTo>
                <a:lnTo>
                  <a:pt x="16669" y="166688"/>
                </a:lnTo>
                <a:lnTo>
                  <a:pt x="15851" y="166667"/>
                </a:lnTo>
                <a:lnTo>
                  <a:pt x="15035" y="166607"/>
                </a:lnTo>
                <a:lnTo>
                  <a:pt x="14223" y="166507"/>
                </a:lnTo>
                <a:lnTo>
                  <a:pt x="13417" y="166367"/>
                </a:lnTo>
                <a:lnTo>
                  <a:pt x="12619" y="166188"/>
                </a:lnTo>
                <a:lnTo>
                  <a:pt x="11830" y="165970"/>
                </a:lnTo>
                <a:lnTo>
                  <a:pt x="11053" y="165713"/>
                </a:lnTo>
                <a:lnTo>
                  <a:pt x="10290" y="165419"/>
                </a:lnTo>
                <a:lnTo>
                  <a:pt x="9542" y="165087"/>
                </a:lnTo>
                <a:lnTo>
                  <a:pt x="8811" y="164719"/>
                </a:lnTo>
                <a:lnTo>
                  <a:pt x="8099" y="164316"/>
                </a:lnTo>
                <a:lnTo>
                  <a:pt x="7408" y="163878"/>
                </a:lnTo>
                <a:lnTo>
                  <a:pt x="6739" y="163407"/>
                </a:lnTo>
                <a:lnTo>
                  <a:pt x="6094" y="162904"/>
                </a:lnTo>
                <a:lnTo>
                  <a:pt x="5475" y="162369"/>
                </a:lnTo>
                <a:lnTo>
                  <a:pt x="4882" y="161805"/>
                </a:lnTo>
                <a:lnTo>
                  <a:pt x="4318" y="161213"/>
                </a:lnTo>
                <a:lnTo>
                  <a:pt x="3784" y="160593"/>
                </a:lnTo>
                <a:lnTo>
                  <a:pt x="3280" y="159948"/>
                </a:lnTo>
                <a:lnTo>
                  <a:pt x="2809" y="159279"/>
                </a:lnTo>
                <a:lnTo>
                  <a:pt x="2371" y="158588"/>
                </a:lnTo>
                <a:lnTo>
                  <a:pt x="1968" y="157876"/>
                </a:lnTo>
                <a:lnTo>
                  <a:pt x="1600" y="157146"/>
                </a:lnTo>
                <a:lnTo>
                  <a:pt x="1269" y="156398"/>
                </a:lnTo>
                <a:lnTo>
                  <a:pt x="974" y="155634"/>
                </a:lnTo>
                <a:lnTo>
                  <a:pt x="718" y="154857"/>
                </a:lnTo>
                <a:lnTo>
                  <a:pt x="500" y="154069"/>
                </a:lnTo>
                <a:lnTo>
                  <a:pt x="320" y="153271"/>
                </a:lnTo>
                <a:lnTo>
                  <a:pt x="180" y="152465"/>
                </a:lnTo>
                <a:lnTo>
                  <a:pt x="80" y="151653"/>
                </a:lnTo>
                <a:lnTo>
                  <a:pt x="20" y="150837"/>
                </a:lnTo>
                <a:lnTo>
                  <a:pt x="0" y="150019"/>
                </a:lnTo>
                <a:lnTo>
                  <a:pt x="0" y="16669"/>
                </a:lnTo>
                <a:lnTo>
                  <a:pt x="20" y="15851"/>
                </a:lnTo>
                <a:lnTo>
                  <a:pt x="80" y="15035"/>
                </a:lnTo>
                <a:lnTo>
                  <a:pt x="180" y="14223"/>
                </a:lnTo>
                <a:lnTo>
                  <a:pt x="320" y="13417"/>
                </a:lnTo>
                <a:lnTo>
                  <a:pt x="500" y="12619"/>
                </a:lnTo>
                <a:lnTo>
                  <a:pt x="718" y="11830"/>
                </a:lnTo>
                <a:lnTo>
                  <a:pt x="974" y="11053"/>
                </a:lnTo>
                <a:lnTo>
                  <a:pt x="1269" y="10290"/>
                </a:lnTo>
                <a:lnTo>
                  <a:pt x="1600" y="9542"/>
                </a:lnTo>
                <a:lnTo>
                  <a:pt x="1968" y="8811"/>
                </a:lnTo>
                <a:lnTo>
                  <a:pt x="2371" y="8099"/>
                </a:lnTo>
                <a:lnTo>
                  <a:pt x="2809" y="7408"/>
                </a:lnTo>
                <a:lnTo>
                  <a:pt x="3280" y="6739"/>
                </a:lnTo>
                <a:lnTo>
                  <a:pt x="3784" y="6094"/>
                </a:lnTo>
                <a:lnTo>
                  <a:pt x="4318" y="5475"/>
                </a:lnTo>
                <a:lnTo>
                  <a:pt x="4882" y="4882"/>
                </a:lnTo>
                <a:lnTo>
                  <a:pt x="5475" y="4318"/>
                </a:lnTo>
                <a:lnTo>
                  <a:pt x="6094" y="3784"/>
                </a:lnTo>
                <a:lnTo>
                  <a:pt x="6739" y="3280"/>
                </a:lnTo>
                <a:lnTo>
                  <a:pt x="7408" y="2809"/>
                </a:lnTo>
                <a:lnTo>
                  <a:pt x="8099" y="2371"/>
                </a:lnTo>
                <a:lnTo>
                  <a:pt x="8811" y="1968"/>
                </a:lnTo>
                <a:lnTo>
                  <a:pt x="9542" y="1600"/>
                </a:lnTo>
                <a:lnTo>
                  <a:pt x="10290" y="1269"/>
                </a:lnTo>
                <a:lnTo>
                  <a:pt x="11053" y="974"/>
                </a:lnTo>
                <a:lnTo>
                  <a:pt x="11830" y="718"/>
                </a:lnTo>
                <a:lnTo>
                  <a:pt x="12619" y="500"/>
                </a:lnTo>
                <a:lnTo>
                  <a:pt x="13417" y="320"/>
                </a:lnTo>
                <a:lnTo>
                  <a:pt x="14223" y="180"/>
                </a:lnTo>
                <a:lnTo>
                  <a:pt x="15035" y="80"/>
                </a:lnTo>
                <a:lnTo>
                  <a:pt x="15851" y="20"/>
                </a:lnTo>
                <a:lnTo>
                  <a:pt x="16669" y="0"/>
                </a:lnTo>
                <a:lnTo>
                  <a:pt x="75009" y="0"/>
                </a:lnTo>
              </a:path>
            </a:pathLst>
          </a:cu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3659" y="4546997"/>
            <a:ext cx="50006" cy="25003"/>
          </a:xfrm>
          <a:custGeom>
            <a:avLst/>
            <a:gdLst/>
            <a:ahLst/>
            <a:cxnLst/>
            <a:rect l="l" t="t" r="r" b="b"/>
            <a:pathLst>
              <a:path w="50006" h="25003">
                <a:moveTo>
                  <a:pt x="0" y="0"/>
                </a:moveTo>
                <a:lnTo>
                  <a:pt x="25003" y="25003"/>
                </a:lnTo>
                <a:lnTo>
                  <a:pt x="50006" y="0"/>
                </a:lnTo>
              </a:path>
            </a:pathLst>
          </a:cu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850606"/>
            <a:ext cx="9144000" cy="292894"/>
          </a:xfrm>
          <a:prstGeom prst="rect">
            <a:avLst/>
          </a:prstGeom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50606"/>
            <a:ext cx="9144000" cy="29289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72505" y="371475"/>
            <a:ext cx="1243013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问题背景 · PAIN POINTS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626864"/>
            <a:ext cx="8229600" cy="2714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基层眼底筛查面临设备门槛高与专业医师短缺双重痛点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35844" y="1189434"/>
            <a:ext cx="115728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痛点一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35844" y="1303734"/>
            <a:ext cx="1157288" cy="2000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眼底成像设备门槛高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50094" y="1616273"/>
            <a:ext cx="3557588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专业眼底相机与 OCT 设备采购成本高，基层社区卫生服务中心与乡镇卫生院普遍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无力配置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50094" y="2027932"/>
            <a:ext cx="310038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设备维护校准依赖厂商定期巡检，偏远地区响应周期长，设备闲置率高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50094" y="2276177"/>
            <a:ext cx="2800350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转诊上级医院拍片再回基层复诊，患者依从性低、随访脱漏严重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236369" y="1189434"/>
            <a:ext cx="1285875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痛点二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236369" y="1303734"/>
            <a:ext cx="1285875" cy="2000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专业眼科医师严重短缺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950842" y="1617166"/>
            <a:ext cx="3328987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基层全科医师缺乏眼底阅片训练，难以独立判读 DR、ARMD、青光眼等病种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950619" y="1865412"/>
            <a:ext cx="310038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上级医院眼科专家下沉基层频次有限，筛查窗口期与专家排班难以匹配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950619" y="2113657"/>
            <a:ext cx="3200400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人工阅片通量大、一致性差，大批量社区筛查难以在规定时限内完成判读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942584" y="4439841"/>
            <a:ext cx="7458789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双重痛点叠加，导致大量糖尿病、高血压等高危人群在基层错过早期眼底病变筛查窗口，亟需一种</a:t>
            </a:r>
            <a:pPr algn="l" indent="0" marL="0">
              <a:buNone/>
            </a:pPr>
            <a:r>
              <a:rPr lang="en-US" sz="700" b="1" dirty="0">
                <a:solidFill>
                  <a:srgbClr val="5EEA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零服务器部署、即开即用</a:t>
            </a:r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 AI 辅助筛查方案下沉到基层终端。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55693" y="4943475"/>
            <a:ext cx="1443038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基层眼底 AI 辅助筛查系统 · 纯前端版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7915275" y="4943475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问题背景与系统动机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184" y="798314"/>
            <a:ext cx="5214938" cy="478631"/>
          </a:xfrm>
          <a:prstGeom prst="roundRect">
            <a:avLst>
              <a:gd name="adj" fmla="val 8554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44453" y="1491816"/>
            <a:ext cx="14288" cy="1143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Shape 2"/>
          <p:cNvSpPr/>
          <p:nvPr/>
        </p:nvSpPr>
        <p:spPr>
          <a:xfrm>
            <a:off x="344184" y="1820987"/>
            <a:ext cx="5214938" cy="621506"/>
          </a:xfrm>
          <a:prstGeom prst="roundRect">
            <a:avLst>
              <a:gd name="adj" fmla="val 5073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44453" y="2657363"/>
            <a:ext cx="14288" cy="1143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344184" y="2986534"/>
            <a:ext cx="5214938" cy="821531"/>
          </a:xfrm>
          <a:prstGeom prst="roundRect">
            <a:avLst>
              <a:gd name="adj" fmla="val 11614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309" y="3299073"/>
            <a:ext cx="1600200" cy="414338"/>
          </a:xfrm>
          <a:prstGeom prst="roundRect">
            <a:avLst>
              <a:gd name="adj" fmla="val 7610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51497" y="3299073"/>
            <a:ext cx="1600200" cy="414338"/>
          </a:xfrm>
          <a:prstGeom prst="roundRect">
            <a:avLst>
              <a:gd name="adj" fmla="val 7610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809740" y="3299073"/>
            <a:ext cx="1600200" cy="414338"/>
          </a:xfrm>
          <a:prstGeom prst="roundRect">
            <a:avLst>
              <a:gd name="adj" fmla="val 7610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944453" y="4022936"/>
            <a:ext cx="14288" cy="1143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44184" y="4353892"/>
            <a:ext cx="5214938" cy="400050"/>
          </a:xfrm>
          <a:prstGeom prst="roundRect">
            <a:avLst>
              <a:gd name="adj" fmla="val 12245"/>
            </a:avLst>
          </a:prstGeom>
          <a:solidFill>
            <a:srgbClr val="0F4C81">
              <a:alpha val="4000"/>
            </a:srgbClr>
          </a:solidFill>
          <a:ln w="6191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30515" y="798314"/>
            <a:ext cx="3071812" cy="871538"/>
          </a:xfrm>
          <a:prstGeom prst="roundRect">
            <a:avLst>
              <a:gd name="adj" fmla="val 10320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30515" y="2031169"/>
            <a:ext cx="3071812" cy="728663"/>
          </a:xfrm>
          <a:prstGeom prst="roundRect">
            <a:avLst>
              <a:gd name="adj" fmla="val 14764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30515" y="3122935"/>
            <a:ext cx="3071812" cy="728663"/>
          </a:xfrm>
          <a:prstGeom prst="roundRect">
            <a:avLst>
              <a:gd name="adj" fmla="val 14764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30515" y="4212915"/>
            <a:ext cx="3071812" cy="542925"/>
          </a:xfrm>
          <a:prstGeom prst="roundRect">
            <a:avLst>
              <a:gd name="adj" fmla="val 6648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565" y="200025"/>
            <a:ext cx="4286250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纯前端架构实现零服务器部署与浏览器端 AI 推理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565" y="507206"/>
            <a:ext cx="42862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系统总览 · 纯前端架构 · 端侧推理方案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171166" y="471488"/>
            <a:ext cx="628650" cy="185738"/>
          </a:xfrm>
          <a:prstGeom prst="roundRect">
            <a:avLst>
              <a:gd name="adj" fmla="val 61538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none" lIns="72866" tIns="24289" rIns="72866" bIns="24289" rtlCol="0" anchor="b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technology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92919" y="92333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06407" y="891183"/>
            <a:ext cx="1278731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浏览器客户端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6407" y="1053703"/>
            <a:ext cx="127873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用户交互 · 图像上传 · 结果展示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981761" y="973336"/>
            <a:ext cx="4286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客户端运行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92919" y="1913855"/>
            <a:ext cx="535781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前端框架层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75969" y="1935287"/>
            <a:ext cx="33575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构建与 UI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93198" y="2133526"/>
            <a:ext cx="1185863" cy="214313"/>
          </a:xfrm>
          <a:prstGeom prst="roundRect">
            <a:avLst>
              <a:gd name="adj" fmla="val 28444"/>
            </a:avLst>
          </a:prstGeom>
          <a:solidFill>
            <a:srgbClr val="0F4C81">
              <a:alpha val="8000"/>
            </a:srgbClr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Vue 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736824" y="2133526"/>
            <a:ext cx="1185863" cy="214313"/>
          </a:xfrm>
          <a:prstGeom prst="roundRect">
            <a:avLst>
              <a:gd name="adj" fmla="val 28444"/>
            </a:avLst>
          </a:prstGeom>
          <a:solidFill>
            <a:srgbClr val="0F4C81">
              <a:alpha val="8000"/>
            </a:srgbClr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Vite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980506" y="2133526"/>
            <a:ext cx="1185863" cy="214313"/>
          </a:xfrm>
          <a:prstGeom prst="roundRect">
            <a:avLst>
              <a:gd name="adj" fmla="val 28444"/>
            </a:avLst>
          </a:prstGeom>
          <a:solidFill>
            <a:srgbClr val="0F4C81">
              <a:alpha val="8000"/>
            </a:srgbClr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Element Plus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24189" y="2133526"/>
            <a:ext cx="1185863" cy="214313"/>
          </a:xfrm>
          <a:prstGeom prst="roundRect">
            <a:avLst>
              <a:gd name="adj" fmla="val 28444"/>
            </a:avLst>
          </a:prstGeom>
          <a:solidFill>
            <a:srgbClr val="0F4C81">
              <a:alpha val="8000"/>
            </a:srgbClr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Tailwind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2919" y="3079403"/>
            <a:ext cx="535781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端侧能力层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10801" y="3100834"/>
            <a:ext cx="700088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 · 存储 · 输出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64747" y="3368725"/>
            <a:ext cx="14573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onnxruntime-web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4747" y="3522315"/>
            <a:ext cx="14573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浏览器端 AI 推理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222934" y="3368725"/>
            <a:ext cx="14573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IndexedDB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222934" y="3522315"/>
            <a:ext cx="14573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本地数据存储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81177" y="3368725"/>
            <a:ext cx="14573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PDF 生成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81177" y="3522315"/>
            <a:ext cx="14573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前端报告输出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879811" y="4446761"/>
            <a:ext cx="114300" cy="21431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81064" y="4478908"/>
            <a:ext cx="6000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无后端服务器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767143" y="4489624"/>
            <a:ext cx="12573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零部署成本 · 物理级隐私隔离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851959" y="921544"/>
            <a:ext cx="28289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核心特性 01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851959" y="1076920"/>
            <a:ext cx="2828925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纯浏览器端推理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51959" y="1268016"/>
            <a:ext cx="282892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onnxruntime-web 加载 INT8 量化模型，全部推理在浏览器内完成，无网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络往返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851959" y="2152613"/>
            <a:ext cx="28289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核心特性 02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51959" y="2307989"/>
            <a:ext cx="2828925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物理级隐私隔离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51959" y="2497299"/>
            <a:ext cx="2828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眼底图像与筛查结果仅存于浏览器 IndexedDB，数据不离开设备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51959" y="3244379"/>
            <a:ext cx="28289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核心特性 03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51959" y="3399755"/>
            <a:ext cx="2828925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零服务器部署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51959" y="3589065"/>
            <a:ext cx="2828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静态资源分发即可运行，基层机构无需运维后端，降低部署门槛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851959" y="4336145"/>
            <a:ext cx="28289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技术栈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51959" y="4491521"/>
            <a:ext cx="2828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Vue 3 + Vite + Element Plus + Tailwind + onnxruntime-web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42119" y="4866680"/>
            <a:ext cx="1321594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基层眼底 AI 辅助筛查系统 · 纯前端版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486775" y="4866680"/>
            <a:ext cx="31432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架构总览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44673"/>
            <a:ext cx="28575" cy="200025"/>
          </a:xfrm>
          <a:prstGeom prst="roundRect">
            <a:avLst>
              <a:gd name="adj" fmla="val 400000"/>
            </a:avLst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" y="725425"/>
            <a:ext cx="5715000" cy="2328863"/>
          </a:xfrm>
          <a:prstGeom prst="roundRect">
            <a:avLst>
              <a:gd name="adj" fmla="val 1445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494" y="1135856"/>
            <a:ext cx="5357813" cy="250031"/>
          </a:xfrm>
          <a:prstGeom prst="rect">
            <a:avLst/>
          </a:prstGeom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94" y="1135856"/>
            <a:ext cx="5357813" cy="2500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1494" y="1385888"/>
            <a:ext cx="5357813" cy="378619"/>
          </a:xfrm>
          <a:prstGeom prst="rect">
            <a:avLst/>
          </a:prstGeom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94" y="1385888"/>
            <a:ext cx="5357813" cy="37861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1494" y="1764506"/>
            <a:ext cx="5357813" cy="378619"/>
          </a:xfrm>
          <a:prstGeom prst="rect">
            <a:avLst/>
          </a:prstGeom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494" y="1764506"/>
            <a:ext cx="5357813" cy="378619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21494" y="2143125"/>
            <a:ext cx="5357813" cy="378619"/>
          </a:xfrm>
          <a:prstGeom prst="rect">
            <a:avLst/>
          </a:prstGeom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1494" y="2143125"/>
            <a:ext cx="5357813" cy="378619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42900" y="3170318"/>
            <a:ext cx="5715000" cy="1550194"/>
          </a:xfrm>
          <a:prstGeom prst="roundRect">
            <a:avLst>
              <a:gd name="adj" fmla="val 3262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521494" y="3615407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Shape 8"/>
          <p:cNvSpPr/>
          <p:nvPr/>
        </p:nvSpPr>
        <p:spPr>
          <a:xfrm>
            <a:off x="521494" y="3826148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Shape 9"/>
          <p:cNvSpPr/>
          <p:nvPr/>
        </p:nvSpPr>
        <p:spPr>
          <a:xfrm>
            <a:off x="521494" y="4036888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Shape 10"/>
          <p:cNvSpPr/>
          <p:nvPr/>
        </p:nvSpPr>
        <p:spPr>
          <a:xfrm>
            <a:off x="521494" y="4247629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Shape 11"/>
          <p:cNvSpPr/>
          <p:nvPr/>
        </p:nvSpPr>
        <p:spPr>
          <a:xfrm>
            <a:off x="6229350" y="723305"/>
            <a:ext cx="2571750" cy="4000500"/>
          </a:xfrm>
          <a:prstGeom prst="roundRect">
            <a:avLst>
              <a:gd name="adj" fmla="val 1185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693694" y="4332684"/>
            <a:ext cx="1814513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693694" y="3589734"/>
            <a:ext cx="1814513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693694" y="2846784"/>
            <a:ext cx="1814513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693694" y="2110978"/>
            <a:ext cx="1814513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693694" y="1368028"/>
            <a:ext cx="1814513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693694" y="4332684"/>
            <a:ext cx="1814513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303645" y="426910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788" dirty="0"/>
          </a:p>
        </p:txBody>
      </p:sp>
      <p:sp>
        <p:nvSpPr>
          <p:cNvPr id="25" name="Text 19"/>
          <p:cNvSpPr/>
          <p:nvPr/>
        </p:nvSpPr>
        <p:spPr>
          <a:xfrm>
            <a:off x="5853589" y="352794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0.25</a:t>
            </a:r>
            <a:endParaRPr lang="en-US" sz="788" dirty="0"/>
          </a:p>
        </p:txBody>
      </p:sp>
      <p:sp>
        <p:nvSpPr>
          <p:cNvPr id="26" name="Text 20"/>
          <p:cNvSpPr/>
          <p:nvPr/>
        </p:nvSpPr>
        <p:spPr>
          <a:xfrm>
            <a:off x="6003608" y="278677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</a:t>
            </a:r>
            <a:endParaRPr lang="en-US" sz="788" dirty="0"/>
          </a:p>
        </p:txBody>
      </p:sp>
      <p:sp>
        <p:nvSpPr>
          <p:cNvPr id="27" name="Text 21"/>
          <p:cNvSpPr/>
          <p:nvPr/>
        </p:nvSpPr>
        <p:spPr>
          <a:xfrm>
            <a:off x="5853589" y="204561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0.75</a:t>
            </a:r>
            <a:endParaRPr lang="en-US" sz="788" dirty="0"/>
          </a:p>
        </p:txBody>
      </p:sp>
      <p:sp>
        <p:nvSpPr>
          <p:cNvPr id="28" name="Text 22"/>
          <p:cNvSpPr/>
          <p:nvPr/>
        </p:nvSpPr>
        <p:spPr>
          <a:xfrm>
            <a:off x="6303645" y="1304449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88" dirty="0"/>
          </a:p>
        </p:txBody>
      </p:sp>
      <p:sp>
        <p:nvSpPr>
          <p:cNvPr id="29" name="Text 23"/>
          <p:cNvSpPr/>
          <p:nvPr/>
        </p:nvSpPr>
        <p:spPr>
          <a:xfrm>
            <a:off x="6679049" y="436911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</a:t>
            </a:r>
            <a:endParaRPr lang="en-US" sz="788" dirty="0"/>
          </a:p>
        </p:txBody>
      </p:sp>
      <p:sp>
        <p:nvSpPr>
          <p:cNvPr id="30" name="Text 24"/>
          <p:cNvSpPr/>
          <p:nvPr/>
        </p:nvSpPr>
        <p:spPr>
          <a:xfrm>
            <a:off x="7136249" y="4369118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glaucoma</a:t>
            </a:r>
            <a:endParaRPr lang="en-US" sz="788" dirty="0"/>
          </a:p>
        </p:txBody>
      </p:sp>
      <p:sp>
        <p:nvSpPr>
          <p:cNvPr id="31" name="Shape 25"/>
          <p:cNvSpPr/>
          <p:nvPr/>
        </p:nvSpPr>
        <p:spPr>
          <a:xfrm>
            <a:off x="6813352" y="2668905"/>
            <a:ext cx="214313" cy="1660208"/>
          </a:xfrm>
          <a:custGeom>
            <a:avLst/>
            <a:gdLst/>
            <a:ahLst/>
            <a:cxnLst/>
            <a:rect l="l" t="t" r="r" b="b"/>
            <a:pathLst>
              <a:path w="214313" h="1660208">
                <a:moveTo>
                  <a:pt x="28575" y="0"/>
                </a:moveTo>
                <a:lnTo>
                  <a:pt x="185738" y="0"/>
                </a:lnTo>
                <a:lnTo>
                  <a:pt x="187140" y="34"/>
                </a:lnTo>
                <a:lnTo>
                  <a:pt x="188538" y="138"/>
                </a:lnTo>
                <a:lnTo>
                  <a:pt x="189930" y="309"/>
                </a:lnTo>
                <a:lnTo>
                  <a:pt x="191312" y="549"/>
                </a:lnTo>
                <a:lnTo>
                  <a:pt x="192681" y="856"/>
                </a:lnTo>
                <a:lnTo>
                  <a:pt x="194032" y="1230"/>
                </a:lnTo>
                <a:lnTo>
                  <a:pt x="195364" y="1670"/>
                </a:lnTo>
                <a:lnTo>
                  <a:pt x="196673" y="2175"/>
                </a:lnTo>
                <a:lnTo>
                  <a:pt x="197955" y="2744"/>
                </a:lnTo>
                <a:lnTo>
                  <a:pt x="199208" y="3374"/>
                </a:lnTo>
                <a:lnTo>
                  <a:pt x="200428" y="4065"/>
                </a:lnTo>
                <a:lnTo>
                  <a:pt x="201613" y="4816"/>
                </a:lnTo>
                <a:lnTo>
                  <a:pt x="202760" y="5623"/>
                </a:lnTo>
                <a:lnTo>
                  <a:pt x="203865" y="6486"/>
                </a:lnTo>
                <a:lnTo>
                  <a:pt x="204927" y="7402"/>
                </a:lnTo>
                <a:lnTo>
                  <a:pt x="205943" y="8369"/>
                </a:lnTo>
                <a:lnTo>
                  <a:pt x="206910" y="9385"/>
                </a:lnTo>
                <a:lnTo>
                  <a:pt x="207826" y="10447"/>
                </a:lnTo>
                <a:lnTo>
                  <a:pt x="208689" y="11553"/>
                </a:lnTo>
                <a:lnTo>
                  <a:pt x="209497" y="12700"/>
                </a:lnTo>
                <a:lnTo>
                  <a:pt x="210247" y="13885"/>
                </a:lnTo>
                <a:lnTo>
                  <a:pt x="210938" y="15105"/>
                </a:lnTo>
                <a:lnTo>
                  <a:pt x="211569" y="16358"/>
                </a:lnTo>
                <a:lnTo>
                  <a:pt x="212137" y="17640"/>
                </a:lnTo>
                <a:lnTo>
                  <a:pt x="212642" y="18948"/>
                </a:lnTo>
                <a:lnTo>
                  <a:pt x="213082" y="20280"/>
                </a:lnTo>
                <a:lnTo>
                  <a:pt x="213456" y="21632"/>
                </a:lnTo>
                <a:lnTo>
                  <a:pt x="213763" y="23000"/>
                </a:lnTo>
                <a:lnTo>
                  <a:pt x="214003" y="24382"/>
                </a:lnTo>
                <a:lnTo>
                  <a:pt x="214175" y="25774"/>
                </a:lnTo>
                <a:lnTo>
                  <a:pt x="214278" y="27173"/>
                </a:lnTo>
                <a:lnTo>
                  <a:pt x="214313" y="28575"/>
                </a:lnTo>
                <a:lnTo>
                  <a:pt x="214313" y="1660208"/>
                </a:lnTo>
                <a:lnTo>
                  <a:pt x="0" y="1660208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32" name="Shape 26"/>
          <p:cNvSpPr/>
          <p:nvPr/>
        </p:nvSpPr>
        <p:spPr>
          <a:xfrm>
            <a:off x="7266980" y="2461379"/>
            <a:ext cx="214313" cy="1867733"/>
          </a:xfrm>
          <a:custGeom>
            <a:avLst/>
            <a:gdLst/>
            <a:ahLst/>
            <a:cxnLst/>
            <a:rect l="l" t="t" r="r" b="b"/>
            <a:pathLst>
              <a:path w="214313" h="1867733">
                <a:moveTo>
                  <a:pt x="28575" y="0"/>
                </a:moveTo>
                <a:lnTo>
                  <a:pt x="185738" y="0"/>
                </a:lnTo>
                <a:lnTo>
                  <a:pt x="187140" y="34"/>
                </a:lnTo>
                <a:lnTo>
                  <a:pt x="188538" y="138"/>
                </a:lnTo>
                <a:lnTo>
                  <a:pt x="189930" y="309"/>
                </a:lnTo>
                <a:lnTo>
                  <a:pt x="191312" y="549"/>
                </a:lnTo>
                <a:lnTo>
                  <a:pt x="192681" y="856"/>
                </a:lnTo>
                <a:lnTo>
                  <a:pt x="194032" y="1230"/>
                </a:lnTo>
                <a:lnTo>
                  <a:pt x="195364" y="1670"/>
                </a:lnTo>
                <a:lnTo>
                  <a:pt x="196673" y="2175"/>
                </a:lnTo>
                <a:lnTo>
                  <a:pt x="197955" y="2744"/>
                </a:lnTo>
                <a:lnTo>
                  <a:pt x="199208" y="3374"/>
                </a:lnTo>
                <a:lnTo>
                  <a:pt x="200428" y="4065"/>
                </a:lnTo>
                <a:lnTo>
                  <a:pt x="201613" y="4816"/>
                </a:lnTo>
                <a:lnTo>
                  <a:pt x="202760" y="5623"/>
                </a:lnTo>
                <a:lnTo>
                  <a:pt x="203865" y="6486"/>
                </a:lnTo>
                <a:lnTo>
                  <a:pt x="204927" y="7402"/>
                </a:lnTo>
                <a:lnTo>
                  <a:pt x="205943" y="8369"/>
                </a:lnTo>
                <a:lnTo>
                  <a:pt x="206910" y="9385"/>
                </a:lnTo>
                <a:lnTo>
                  <a:pt x="207826" y="10447"/>
                </a:lnTo>
                <a:lnTo>
                  <a:pt x="208689" y="11553"/>
                </a:lnTo>
                <a:lnTo>
                  <a:pt x="209497" y="12700"/>
                </a:lnTo>
                <a:lnTo>
                  <a:pt x="210247" y="13885"/>
                </a:lnTo>
                <a:lnTo>
                  <a:pt x="210938" y="15105"/>
                </a:lnTo>
                <a:lnTo>
                  <a:pt x="211569" y="16358"/>
                </a:lnTo>
                <a:lnTo>
                  <a:pt x="212137" y="17640"/>
                </a:lnTo>
                <a:lnTo>
                  <a:pt x="212642" y="18948"/>
                </a:lnTo>
                <a:lnTo>
                  <a:pt x="213082" y="20280"/>
                </a:lnTo>
                <a:lnTo>
                  <a:pt x="213456" y="21632"/>
                </a:lnTo>
                <a:lnTo>
                  <a:pt x="213763" y="23000"/>
                </a:lnTo>
                <a:lnTo>
                  <a:pt x="214003" y="24382"/>
                </a:lnTo>
                <a:lnTo>
                  <a:pt x="214175" y="25774"/>
                </a:lnTo>
                <a:lnTo>
                  <a:pt x="214278" y="27173"/>
                </a:lnTo>
                <a:lnTo>
                  <a:pt x="214313" y="28575"/>
                </a:lnTo>
                <a:lnTo>
                  <a:pt x="214313" y="1867733"/>
                </a:lnTo>
                <a:lnTo>
                  <a:pt x="0" y="1867733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33" name="Shape 27"/>
          <p:cNvSpPr/>
          <p:nvPr/>
        </p:nvSpPr>
        <p:spPr>
          <a:xfrm>
            <a:off x="7720608" y="2728198"/>
            <a:ext cx="214313" cy="1600914"/>
          </a:xfrm>
          <a:custGeom>
            <a:avLst/>
            <a:gdLst/>
            <a:ahLst/>
            <a:cxnLst/>
            <a:rect l="l" t="t" r="r" b="b"/>
            <a:pathLst>
              <a:path w="214313" h="1600914">
                <a:moveTo>
                  <a:pt x="28575" y="0"/>
                </a:moveTo>
                <a:lnTo>
                  <a:pt x="185738" y="0"/>
                </a:lnTo>
                <a:lnTo>
                  <a:pt x="187140" y="34"/>
                </a:lnTo>
                <a:lnTo>
                  <a:pt x="188538" y="138"/>
                </a:lnTo>
                <a:lnTo>
                  <a:pt x="189930" y="309"/>
                </a:lnTo>
                <a:lnTo>
                  <a:pt x="191312" y="549"/>
                </a:lnTo>
                <a:lnTo>
                  <a:pt x="192681" y="856"/>
                </a:lnTo>
                <a:lnTo>
                  <a:pt x="194032" y="1230"/>
                </a:lnTo>
                <a:lnTo>
                  <a:pt x="195364" y="1670"/>
                </a:lnTo>
                <a:lnTo>
                  <a:pt x="196673" y="2175"/>
                </a:lnTo>
                <a:lnTo>
                  <a:pt x="197955" y="2744"/>
                </a:lnTo>
                <a:lnTo>
                  <a:pt x="199208" y="3374"/>
                </a:lnTo>
                <a:lnTo>
                  <a:pt x="200428" y="4065"/>
                </a:lnTo>
                <a:lnTo>
                  <a:pt x="201613" y="4816"/>
                </a:lnTo>
                <a:lnTo>
                  <a:pt x="202760" y="5623"/>
                </a:lnTo>
                <a:lnTo>
                  <a:pt x="203865" y="6486"/>
                </a:lnTo>
                <a:lnTo>
                  <a:pt x="204927" y="7402"/>
                </a:lnTo>
                <a:lnTo>
                  <a:pt x="205943" y="8369"/>
                </a:lnTo>
                <a:lnTo>
                  <a:pt x="206910" y="9385"/>
                </a:lnTo>
                <a:lnTo>
                  <a:pt x="207826" y="10447"/>
                </a:lnTo>
                <a:lnTo>
                  <a:pt x="208689" y="11553"/>
                </a:lnTo>
                <a:lnTo>
                  <a:pt x="209497" y="12700"/>
                </a:lnTo>
                <a:lnTo>
                  <a:pt x="210247" y="13885"/>
                </a:lnTo>
                <a:lnTo>
                  <a:pt x="210938" y="15105"/>
                </a:lnTo>
                <a:lnTo>
                  <a:pt x="211569" y="16358"/>
                </a:lnTo>
                <a:lnTo>
                  <a:pt x="212137" y="17640"/>
                </a:lnTo>
                <a:lnTo>
                  <a:pt x="212642" y="18948"/>
                </a:lnTo>
                <a:lnTo>
                  <a:pt x="213082" y="20280"/>
                </a:lnTo>
                <a:lnTo>
                  <a:pt x="213456" y="21632"/>
                </a:lnTo>
                <a:lnTo>
                  <a:pt x="213763" y="23000"/>
                </a:lnTo>
                <a:lnTo>
                  <a:pt x="214003" y="24382"/>
                </a:lnTo>
                <a:lnTo>
                  <a:pt x="214175" y="25774"/>
                </a:lnTo>
                <a:lnTo>
                  <a:pt x="214278" y="27173"/>
                </a:lnTo>
                <a:lnTo>
                  <a:pt x="214313" y="28575"/>
                </a:lnTo>
                <a:lnTo>
                  <a:pt x="214313" y="1600914"/>
                </a:lnTo>
                <a:lnTo>
                  <a:pt x="0" y="1600914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34" name="Shape 28"/>
          <p:cNvSpPr/>
          <p:nvPr/>
        </p:nvSpPr>
        <p:spPr>
          <a:xfrm>
            <a:off x="8174236" y="2698552"/>
            <a:ext cx="214313" cy="1630561"/>
          </a:xfrm>
          <a:custGeom>
            <a:avLst/>
            <a:gdLst/>
            <a:ahLst/>
            <a:cxnLst/>
            <a:rect l="l" t="t" r="r" b="b"/>
            <a:pathLst>
              <a:path w="214313" h="1630561">
                <a:moveTo>
                  <a:pt x="28575" y="0"/>
                </a:moveTo>
                <a:lnTo>
                  <a:pt x="185738" y="0"/>
                </a:lnTo>
                <a:lnTo>
                  <a:pt x="187140" y="34"/>
                </a:lnTo>
                <a:lnTo>
                  <a:pt x="188538" y="138"/>
                </a:lnTo>
                <a:lnTo>
                  <a:pt x="189930" y="309"/>
                </a:lnTo>
                <a:lnTo>
                  <a:pt x="191312" y="549"/>
                </a:lnTo>
                <a:lnTo>
                  <a:pt x="192681" y="856"/>
                </a:lnTo>
                <a:lnTo>
                  <a:pt x="194032" y="1230"/>
                </a:lnTo>
                <a:lnTo>
                  <a:pt x="195364" y="1670"/>
                </a:lnTo>
                <a:lnTo>
                  <a:pt x="196673" y="2175"/>
                </a:lnTo>
                <a:lnTo>
                  <a:pt x="197955" y="2744"/>
                </a:lnTo>
                <a:lnTo>
                  <a:pt x="199208" y="3374"/>
                </a:lnTo>
                <a:lnTo>
                  <a:pt x="200428" y="4065"/>
                </a:lnTo>
                <a:lnTo>
                  <a:pt x="201613" y="4816"/>
                </a:lnTo>
                <a:lnTo>
                  <a:pt x="202760" y="5623"/>
                </a:lnTo>
                <a:lnTo>
                  <a:pt x="203865" y="6486"/>
                </a:lnTo>
                <a:lnTo>
                  <a:pt x="204927" y="7402"/>
                </a:lnTo>
                <a:lnTo>
                  <a:pt x="205943" y="8369"/>
                </a:lnTo>
                <a:lnTo>
                  <a:pt x="206910" y="9385"/>
                </a:lnTo>
                <a:lnTo>
                  <a:pt x="207826" y="10447"/>
                </a:lnTo>
                <a:lnTo>
                  <a:pt x="208689" y="11553"/>
                </a:lnTo>
                <a:lnTo>
                  <a:pt x="209497" y="12700"/>
                </a:lnTo>
                <a:lnTo>
                  <a:pt x="210247" y="13885"/>
                </a:lnTo>
                <a:lnTo>
                  <a:pt x="210938" y="15105"/>
                </a:lnTo>
                <a:lnTo>
                  <a:pt x="211569" y="16358"/>
                </a:lnTo>
                <a:lnTo>
                  <a:pt x="212137" y="17640"/>
                </a:lnTo>
                <a:lnTo>
                  <a:pt x="212642" y="18948"/>
                </a:lnTo>
                <a:lnTo>
                  <a:pt x="213082" y="20280"/>
                </a:lnTo>
                <a:lnTo>
                  <a:pt x="213456" y="21632"/>
                </a:lnTo>
                <a:lnTo>
                  <a:pt x="213763" y="23000"/>
                </a:lnTo>
                <a:lnTo>
                  <a:pt x="214003" y="24382"/>
                </a:lnTo>
                <a:lnTo>
                  <a:pt x="214175" y="25774"/>
                </a:lnTo>
                <a:lnTo>
                  <a:pt x="214278" y="27173"/>
                </a:lnTo>
                <a:lnTo>
                  <a:pt x="214313" y="28575"/>
                </a:lnTo>
                <a:lnTo>
                  <a:pt x="214313" y="1630561"/>
                </a:lnTo>
                <a:lnTo>
                  <a:pt x="0" y="1630561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35" name="Text 29"/>
          <p:cNvSpPr/>
          <p:nvPr/>
        </p:nvSpPr>
        <p:spPr>
          <a:xfrm>
            <a:off x="6529030" y="2526744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0.56</a:t>
            </a:r>
            <a:endParaRPr lang="en-US" sz="788" dirty="0"/>
          </a:p>
        </p:txBody>
      </p:sp>
      <p:sp>
        <p:nvSpPr>
          <p:cNvPr id="36" name="Text 30"/>
          <p:cNvSpPr/>
          <p:nvPr/>
        </p:nvSpPr>
        <p:spPr>
          <a:xfrm>
            <a:off x="6982658" y="231921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0.63</a:t>
            </a:r>
            <a:endParaRPr lang="en-US" sz="788" dirty="0"/>
          </a:p>
        </p:txBody>
      </p:sp>
      <p:sp>
        <p:nvSpPr>
          <p:cNvPr id="37" name="Text 31"/>
          <p:cNvSpPr/>
          <p:nvPr/>
        </p:nvSpPr>
        <p:spPr>
          <a:xfrm>
            <a:off x="7436287" y="258603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0.54</a:t>
            </a:r>
            <a:endParaRPr lang="en-US" sz="788" dirty="0"/>
          </a:p>
        </p:txBody>
      </p:sp>
      <p:sp>
        <p:nvSpPr>
          <p:cNvPr id="38" name="Text 32"/>
          <p:cNvSpPr/>
          <p:nvPr/>
        </p:nvSpPr>
        <p:spPr>
          <a:xfrm>
            <a:off x="7889915" y="255639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0.55</a:t>
            </a:r>
            <a:endParaRPr lang="en-US" sz="788" dirty="0"/>
          </a:p>
        </p:txBody>
      </p:sp>
      <p:sp>
        <p:nvSpPr>
          <p:cNvPr id="39" name="Shape 33"/>
          <p:cNvSpPr/>
          <p:nvPr/>
        </p:nvSpPr>
        <p:spPr>
          <a:xfrm>
            <a:off x="0" y="4836319"/>
            <a:ext cx="9144000" cy="307181"/>
          </a:xfrm>
          <a:prstGeom prst="rect">
            <a:avLst/>
          </a:prstGeom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57814" y="226814"/>
            <a:ext cx="5257800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四病种阈值表定义 DR/ARMD/glaucoma/myopia 筛查判定标准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457200" y="489347"/>
            <a:ext cx="834390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四病种独立 sigmoid 输出，各病种 F1 最优阈值，可按临床灵敏度与特异性需求校准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521494" y="873323"/>
            <a:ext cx="5357813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病种阳性判定阈值表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520266" y="1193006"/>
            <a:ext cx="17502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病种</a:t>
            </a: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2327635" y="1193006"/>
            <a:ext cx="842962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缩写</a:t>
            </a:r>
            <a:endParaRPr lang="en-US" sz="700" dirty="0"/>
          </a:p>
        </p:txBody>
      </p:sp>
      <p:sp>
        <p:nvSpPr>
          <p:cNvPr id="46" name="Text 39"/>
          <p:cNvSpPr/>
          <p:nvPr/>
        </p:nvSpPr>
        <p:spPr>
          <a:xfrm>
            <a:off x="3230147" y="1193006"/>
            <a:ext cx="842962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阈值</a:t>
            </a:r>
            <a:endParaRPr lang="en-US" sz="700" dirty="0"/>
          </a:p>
        </p:txBody>
      </p:sp>
      <p:sp>
        <p:nvSpPr>
          <p:cNvPr id="47" name="Text 40"/>
          <p:cNvSpPr/>
          <p:nvPr/>
        </p:nvSpPr>
        <p:spPr>
          <a:xfrm>
            <a:off x="4130260" y="1193006"/>
            <a:ext cx="17502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判定说明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520266" y="1500188"/>
            <a:ext cx="175021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糖尿病视网膜病变</a:t>
            </a:r>
            <a:endParaRPr lang="en-US" sz="700" dirty="0"/>
          </a:p>
        </p:txBody>
      </p:sp>
      <p:sp>
        <p:nvSpPr>
          <p:cNvPr id="49" name="Text 42"/>
          <p:cNvSpPr/>
          <p:nvPr/>
        </p:nvSpPr>
        <p:spPr>
          <a:xfrm>
            <a:off x="2609757" y="1478756"/>
            <a:ext cx="278606" cy="185738"/>
          </a:xfrm>
          <a:prstGeom prst="roundRect">
            <a:avLst>
              <a:gd name="adj" fmla="val 28402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</p:spPr>
        <p:txBody>
          <a:bodyPr wrap="none" lIns="60722" tIns="18217" rIns="60722" bIns="18217" rtlCol="0" anchor="t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</a:t>
            </a:r>
            <a:endParaRPr lang="en-US" sz="700" dirty="0"/>
          </a:p>
        </p:txBody>
      </p:sp>
      <p:sp>
        <p:nvSpPr>
          <p:cNvPr id="50" name="Text 43"/>
          <p:cNvSpPr/>
          <p:nvPr/>
        </p:nvSpPr>
        <p:spPr>
          <a:xfrm>
            <a:off x="3230147" y="1489472"/>
            <a:ext cx="842962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0.56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4130260" y="1507331"/>
            <a:ext cx="17502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概率 ≥ 0.56 判为可转诊 DR</a:t>
            </a:r>
            <a:endParaRPr lang="en-US" sz="700" dirty="0"/>
          </a:p>
        </p:txBody>
      </p:sp>
      <p:sp>
        <p:nvSpPr>
          <p:cNvPr id="52" name="Text 45"/>
          <p:cNvSpPr/>
          <p:nvPr/>
        </p:nvSpPr>
        <p:spPr>
          <a:xfrm>
            <a:off x="520266" y="1878806"/>
            <a:ext cx="175021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年龄相关性黄斑变性</a:t>
            </a:r>
            <a:endParaRPr lang="en-US" sz="700" dirty="0"/>
          </a:p>
        </p:txBody>
      </p:sp>
      <p:sp>
        <p:nvSpPr>
          <p:cNvPr id="53" name="Text 46"/>
          <p:cNvSpPr/>
          <p:nvPr/>
        </p:nvSpPr>
        <p:spPr>
          <a:xfrm>
            <a:off x="2545519" y="1857375"/>
            <a:ext cx="407194" cy="185738"/>
          </a:xfrm>
          <a:prstGeom prst="roundRect">
            <a:avLst>
              <a:gd name="adj" fmla="val 28402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</p:spPr>
        <p:txBody>
          <a:bodyPr wrap="none" lIns="60722" tIns="18217" rIns="60722" bIns="18217" rtlCol="0" anchor="t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ARMD</a:t>
            </a:r>
            <a:endParaRPr lang="en-US" sz="700" dirty="0"/>
          </a:p>
        </p:txBody>
      </p:sp>
      <p:sp>
        <p:nvSpPr>
          <p:cNvPr id="54" name="Text 47"/>
          <p:cNvSpPr/>
          <p:nvPr/>
        </p:nvSpPr>
        <p:spPr>
          <a:xfrm>
            <a:off x="3230147" y="1868091"/>
            <a:ext cx="842962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0.63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4130260" y="1885950"/>
            <a:ext cx="17502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概率 ≥ 0.63 判为 ARMD 疑似</a:t>
            </a:r>
            <a:endParaRPr lang="en-US" sz="700" dirty="0"/>
          </a:p>
        </p:txBody>
      </p:sp>
      <p:sp>
        <p:nvSpPr>
          <p:cNvPr id="56" name="Text 49"/>
          <p:cNvSpPr/>
          <p:nvPr/>
        </p:nvSpPr>
        <p:spPr>
          <a:xfrm>
            <a:off x="520266" y="2257425"/>
            <a:ext cx="175021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青光眼（视神经改变）</a:t>
            </a:r>
            <a:endParaRPr lang="en-US" sz="700" dirty="0"/>
          </a:p>
        </p:txBody>
      </p:sp>
      <p:sp>
        <p:nvSpPr>
          <p:cNvPr id="57" name="Text 50"/>
          <p:cNvSpPr/>
          <p:nvPr/>
        </p:nvSpPr>
        <p:spPr>
          <a:xfrm>
            <a:off x="2463310" y="2235994"/>
            <a:ext cx="571500" cy="185738"/>
          </a:xfrm>
          <a:prstGeom prst="roundRect">
            <a:avLst>
              <a:gd name="adj" fmla="val 28402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</p:spPr>
        <p:txBody>
          <a:bodyPr wrap="none" lIns="60722" tIns="18217" rIns="60722" bIns="18217" rtlCol="0" anchor="t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glaucoma</a:t>
            </a:r>
            <a:endParaRPr lang="en-US" sz="700" dirty="0"/>
          </a:p>
        </p:txBody>
      </p:sp>
      <p:sp>
        <p:nvSpPr>
          <p:cNvPr id="58" name="Text 51"/>
          <p:cNvSpPr/>
          <p:nvPr/>
        </p:nvSpPr>
        <p:spPr>
          <a:xfrm>
            <a:off x="3230147" y="2246709"/>
            <a:ext cx="842962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0.54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4130260" y="2264569"/>
            <a:ext cx="17502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概率 ≥ 0.54 判为青光眼疑似</a:t>
            </a:r>
            <a:endParaRPr lang="en-US" sz="700" dirty="0"/>
          </a:p>
        </p:txBody>
      </p:sp>
      <p:sp>
        <p:nvSpPr>
          <p:cNvPr id="60" name="Text 53"/>
          <p:cNvSpPr/>
          <p:nvPr/>
        </p:nvSpPr>
        <p:spPr>
          <a:xfrm>
            <a:off x="520266" y="2636044"/>
            <a:ext cx="175021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病理性近视</a:t>
            </a:r>
            <a:endParaRPr lang="en-US" sz="700" dirty="0"/>
          </a:p>
        </p:txBody>
      </p:sp>
      <p:sp>
        <p:nvSpPr>
          <p:cNvPr id="61" name="Text 54"/>
          <p:cNvSpPr/>
          <p:nvPr/>
        </p:nvSpPr>
        <p:spPr>
          <a:xfrm>
            <a:off x="2513372" y="2614613"/>
            <a:ext cx="471488" cy="185738"/>
          </a:xfrm>
          <a:prstGeom prst="roundRect">
            <a:avLst>
              <a:gd name="adj" fmla="val 28402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</p:spPr>
        <p:txBody>
          <a:bodyPr wrap="none" lIns="60722" tIns="18217" rIns="60722" bIns="18217" rtlCol="0" anchor="t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myopia</a:t>
            </a:r>
            <a:endParaRPr lang="en-US" sz="700" dirty="0"/>
          </a:p>
        </p:txBody>
      </p:sp>
      <p:sp>
        <p:nvSpPr>
          <p:cNvPr id="62" name="Text 55"/>
          <p:cNvSpPr/>
          <p:nvPr/>
        </p:nvSpPr>
        <p:spPr>
          <a:xfrm>
            <a:off x="3230147" y="2625328"/>
            <a:ext cx="842962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0.55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4130260" y="2643188"/>
            <a:ext cx="17502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概率 ≥ 0.55 判为高度近视风险</a:t>
            </a:r>
            <a:endParaRPr lang="en-US" sz="700" dirty="0"/>
          </a:p>
        </p:txBody>
      </p:sp>
      <p:sp>
        <p:nvSpPr>
          <p:cNvPr id="64" name="Text 57"/>
          <p:cNvSpPr/>
          <p:nvPr/>
        </p:nvSpPr>
        <p:spPr>
          <a:xfrm>
            <a:off x="521494" y="3317156"/>
            <a:ext cx="5357813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阈值校准策略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623125" y="3563615"/>
            <a:ext cx="2158127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F1 最优阈值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：各病种按 F1 分数最优独立确定阈值</a:t>
            </a:r>
            <a:endParaRPr lang="en-US" sz="700" dirty="0"/>
          </a:p>
        </p:txBody>
      </p:sp>
      <p:sp>
        <p:nvSpPr>
          <p:cNvPr id="66" name="Text 59"/>
          <p:cNvSpPr/>
          <p:nvPr/>
        </p:nvSpPr>
        <p:spPr>
          <a:xfrm>
            <a:off x="619720" y="3774356"/>
            <a:ext cx="2362581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可调范围 0.30–0.70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：按临床需求灵活校准各病种阈值</a:t>
            </a:r>
            <a:endParaRPr lang="en-US" sz="700" dirty="0"/>
          </a:p>
        </p:txBody>
      </p:sp>
      <p:sp>
        <p:nvSpPr>
          <p:cNvPr id="67" name="Text 60"/>
          <p:cNvSpPr/>
          <p:nvPr/>
        </p:nvSpPr>
        <p:spPr>
          <a:xfrm>
            <a:off x="621506" y="3985096"/>
            <a:ext cx="196881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灵敏度优先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：降低阈值提高召回率，减少漏诊</a:t>
            </a:r>
            <a:endParaRPr lang="en-US" sz="700" dirty="0"/>
          </a:p>
        </p:txBody>
      </p:sp>
      <p:sp>
        <p:nvSpPr>
          <p:cNvPr id="68" name="Text 61"/>
          <p:cNvSpPr/>
          <p:nvPr/>
        </p:nvSpPr>
        <p:spPr>
          <a:xfrm>
            <a:off x="621506" y="4195837"/>
            <a:ext cx="216569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特异性优先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：提高阈值降低误转率，减少过度转诊</a:t>
            </a:r>
            <a:endParaRPr lang="en-US" sz="700" dirty="0"/>
          </a:p>
        </p:txBody>
      </p:sp>
      <p:sp>
        <p:nvSpPr>
          <p:cNvPr id="69" name="Text 62"/>
          <p:cNvSpPr/>
          <p:nvPr/>
        </p:nvSpPr>
        <p:spPr>
          <a:xfrm>
            <a:off x="6350794" y="859036"/>
            <a:ext cx="2328863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阳性阈值可视化</a:t>
            </a:r>
            <a:endParaRPr lang="en-US" sz="800" dirty="0"/>
          </a:p>
        </p:txBody>
      </p:sp>
      <p:sp>
        <p:nvSpPr>
          <p:cNvPr id="70" name="Text 63"/>
          <p:cNvSpPr/>
          <p:nvPr/>
        </p:nvSpPr>
        <p:spPr>
          <a:xfrm>
            <a:off x="342900" y="4900613"/>
            <a:ext cx="845820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数据来源：四病种多标签分类模型输出层 sigmoid 概率，阳性判定阈值由 F1 最优确定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00025"/>
            <a:ext cx="28575" cy="171450"/>
          </a:xfrm>
          <a:prstGeom prst="roundRect">
            <a:avLst>
              <a:gd name="adj" fmla="val 400000"/>
            </a:avLst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341561" y="953244"/>
            <a:ext cx="3893344" cy="607219"/>
          </a:xfrm>
          <a:prstGeom prst="roundRect">
            <a:avLst>
              <a:gd name="adj" fmla="val 3543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561" y="1606004"/>
            <a:ext cx="3893344" cy="607219"/>
          </a:xfrm>
          <a:prstGeom prst="roundRect">
            <a:avLst>
              <a:gd name="adj" fmla="val 3543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1561" y="2258764"/>
            <a:ext cx="3893344" cy="607219"/>
          </a:xfrm>
          <a:prstGeom prst="roundRect">
            <a:avLst>
              <a:gd name="adj" fmla="val 3543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561" y="2911525"/>
            <a:ext cx="3893344" cy="607219"/>
          </a:xfrm>
          <a:prstGeom prst="roundRect">
            <a:avLst>
              <a:gd name="adj" fmla="val 3543"/>
            </a:avLst>
          </a:prstGeom>
          <a:solidFill>
            <a:srgbClr val="E0F2F1"/>
          </a:solidFill>
          <a:ln w="6191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561" y="3564285"/>
            <a:ext cx="3893344" cy="607219"/>
          </a:xfrm>
          <a:prstGeom prst="roundRect">
            <a:avLst>
              <a:gd name="adj" fmla="val 3543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561" y="4217045"/>
            <a:ext cx="3893344" cy="607219"/>
          </a:xfrm>
          <a:prstGeom prst="roundRect">
            <a:avLst>
              <a:gd name="adj" fmla="val 3543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33640" y="4048720"/>
            <a:ext cx="3793331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33640" y="3484364"/>
            <a:ext cx="3793331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33640" y="2927152"/>
            <a:ext cx="3793331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33640" y="2362795"/>
            <a:ext cx="3793331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33640" y="1798439"/>
            <a:ext cx="3793331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33640" y="1241227"/>
            <a:ext cx="3793331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134" y="1002625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耗时 (ms)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4833640" y="4048720"/>
            <a:ext cx="3793331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591" y="3985141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4143554" y="342364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300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4143554" y="286214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4143554" y="230064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900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3843516" y="173914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1,200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3843516" y="117764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1,500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4991338" y="408515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预处理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5564624" y="4085153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WASM 冷启动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6512957" y="4085153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ONNX 纯推理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7836337" y="408515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后处理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5193506" y="4017074"/>
            <a:ext cx="228600" cy="28075"/>
          </a:xfrm>
          <a:custGeom>
            <a:avLst/>
            <a:gdLst/>
            <a:ahLst/>
            <a:cxnLst/>
            <a:rect l="l" t="t" r="r" b="b"/>
            <a:pathLst>
              <a:path w="228600" h="28075">
                <a:moveTo>
                  <a:pt x="0" y="28075"/>
                </a:moveTo>
                <a:lnTo>
                  <a:pt x="228600" y="28075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8" name="Shape 26"/>
          <p:cNvSpPr/>
          <p:nvPr/>
        </p:nvSpPr>
        <p:spPr>
          <a:xfrm>
            <a:off x="6141839" y="1237655"/>
            <a:ext cx="228600" cy="2807494"/>
          </a:xfrm>
          <a:custGeom>
            <a:avLst/>
            <a:gdLst/>
            <a:ahLst/>
            <a:cxnLst/>
            <a:rect l="l" t="t" r="r" b="b"/>
            <a:pathLst>
              <a:path w="228600" h="2807494">
                <a:moveTo>
                  <a:pt x="0" y="2807494"/>
                </a:moveTo>
                <a:lnTo>
                  <a:pt x="228600" y="2807494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29" name="Shape 27"/>
          <p:cNvSpPr/>
          <p:nvPr/>
        </p:nvSpPr>
        <p:spPr>
          <a:xfrm>
            <a:off x="7090172" y="4038111"/>
            <a:ext cx="228600" cy="7037"/>
          </a:xfrm>
          <a:custGeom>
            <a:avLst/>
            <a:gdLst/>
            <a:ahLst/>
            <a:cxnLst/>
            <a:rect l="l" t="t" r="r" b="b"/>
            <a:pathLst>
              <a:path w="228600" h="7037">
                <a:moveTo>
                  <a:pt x="0" y="7037"/>
                </a:moveTo>
                <a:lnTo>
                  <a:pt x="228600" y="7037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30" name="Shape 28"/>
          <p:cNvSpPr/>
          <p:nvPr/>
        </p:nvSpPr>
        <p:spPr>
          <a:xfrm>
            <a:off x="8038505" y="4030175"/>
            <a:ext cx="228600" cy="14973"/>
          </a:xfrm>
          <a:custGeom>
            <a:avLst/>
            <a:gdLst/>
            <a:ahLst/>
            <a:cxnLst/>
            <a:rect l="l" t="t" r="r" b="b"/>
            <a:pathLst>
              <a:path w="228600" h="14973">
                <a:moveTo>
                  <a:pt x="0" y="14973"/>
                </a:moveTo>
                <a:lnTo>
                  <a:pt x="228600" y="14973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5066348" y="387848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5864662" y="109906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1500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6812994" y="3899522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3.76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7986355" y="3891586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88" dirty="0"/>
          </a:p>
        </p:txBody>
      </p:sp>
      <p:sp>
        <p:nvSpPr>
          <p:cNvPr id="35" name="Shape 33"/>
          <p:cNvSpPr/>
          <p:nvPr/>
        </p:nvSpPr>
        <p:spPr>
          <a:xfrm>
            <a:off x="4463783" y="4418409"/>
            <a:ext cx="1385887" cy="407194"/>
          </a:xfrm>
          <a:prstGeom prst="roundRect">
            <a:avLst>
              <a:gd name="adj" fmla="val 7879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38633" y="4418409"/>
            <a:ext cx="1385887" cy="407194"/>
          </a:xfrm>
          <a:prstGeom prst="roundRect">
            <a:avLst>
              <a:gd name="adj" fmla="val 7879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13482" y="4418409"/>
            <a:ext cx="1385887" cy="407194"/>
          </a:xfrm>
          <a:prstGeom prst="roundRect">
            <a:avLst>
              <a:gd name="adj" fmla="val 7879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8458" y="214313"/>
            <a:ext cx="685800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推理核心流程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42900" y="413445"/>
            <a:ext cx="845820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从原图到四病种概率的 AI 推理核心流程贯通端侧推理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41561" y="753666"/>
            <a:ext cx="3893344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推理流水线 · 6 阶段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35769" y="1156841"/>
            <a:ext cx="200025" cy="200025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20179" y="1143446"/>
            <a:ext cx="34218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原图输入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20179" y="1269355"/>
            <a:ext cx="3421856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眼底彩照 JPEG/PNG，本地文件选取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35769" y="1809601"/>
            <a:ext cx="200025" cy="200025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20179" y="1796207"/>
            <a:ext cx="34218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图像预处理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20179" y="1922115"/>
            <a:ext cx="3421856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Resize 384×384、归一化、RGB 通道转换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35769" y="2462361"/>
            <a:ext cx="200025" cy="200025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20179" y="2448967"/>
            <a:ext cx="34218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模型加载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20179" y="2574875"/>
            <a:ext cx="3421856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INT8 量化 ONNX 模型，IndexedDB 缓存复用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35769" y="3115121"/>
            <a:ext cx="200025" cy="200025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20179" y="3101727"/>
            <a:ext cx="34218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ONNX 端侧推理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20179" y="3227636"/>
            <a:ext cx="3421856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onnxruntime-web · WebAssembly 后端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35769" y="3767882"/>
            <a:ext cx="200025" cy="200025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20179" y="3754487"/>
            <a:ext cx="34218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后处理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20179" y="3880396"/>
            <a:ext cx="3421856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Softmax 归一化、阈值判定与阳性标记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35769" y="4420642"/>
            <a:ext cx="200025" cy="200025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20179" y="4407247"/>
            <a:ext cx="34218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四病种概率输出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20179" y="4533156"/>
            <a:ext cx="3421856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 / ARMD / glaucoma / myopia 概率向量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463504" y="753666"/>
            <a:ext cx="4336256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各阶段耗时分布（ms · 含冷启动）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556652" y="4480917"/>
            <a:ext cx="1200150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端到端耗时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556652" y="4598789"/>
            <a:ext cx="1200150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 1.53 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031502" y="4480917"/>
            <a:ext cx="1200150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推理后端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031502" y="4599682"/>
            <a:ext cx="120015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WebAssembly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506351" y="4480917"/>
            <a:ext cx="1200150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输出维度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506351" y="4598789"/>
            <a:ext cx="1200150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病种概率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41951" y="4909542"/>
            <a:ext cx="3443288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纯推理仅 3.76 ms · 此处为含 WASM 初始化冷启动的首次耗时 · INT8 量化模型 · Chrome 桌面端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480288" y="4909542"/>
            <a:ext cx="1321594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基层眼底 AI 辅助筛查系统 · 纯前端版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967"/>
            <a:ext cx="28575" cy="185738"/>
          </a:xfrm>
          <a:prstGeom prst="roundRect">
            <a:avLst>
              <a:gd name="adj" fmla="val 400000"/>
            </a:avLst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344295" y="769739"/>
            <a:ext cx="4757738" cy="3993356"/>
          </a:xfrm>
          <a:prstGeom prst="roundRect">
            <a:avLst>
              <a:gd name="adj" fmla="val 492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1531" y="4414838"/>
            <a:ext cx="401478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1531" y="3914775"/>
            <a:ext cx="401478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1531" y="3414713"/>
            <a:ext cx="401478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1531" y="2921794"/>
            <a:ext cx="401478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1531" y="2421731"/>
            <a:ext cx="401478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1531" y="1921669"/>
            <a:ext cx="401478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1531" y="1550194"/>
            <a:ext cx="401478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1531" y="4414838"/>
            <a:ext cx="40147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18574" y="435125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0.0%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-168592" y="3853059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20.0%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-168592" y="3354860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40.0%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-168592" y="2856661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60.0%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-168592" y="2358463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80.0%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-318611" y="1860263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100.0%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-318611" y="1486614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115.0%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1099185" y="448341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模型体积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437448" y="448341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推理耗时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3775710" y="448341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精度保留</a:t>
            </a:r>
            <a:endParaRPr lang="en-US" sz="788" dirty="0"/>
          </a:p>
        </p:txBody>
      </p:sp>
      <p:sp>
        <p:nvSpPr>
          <p:cNvPr id="22" name="Shape 20"/>
          <p:cNvSpPr/>
          <p:nvPr/>
        </p:nvSpPr>
        <p:spPr>
          <a:xfrm>
            <a:off x="1223486" y="1920271"/>
            <a:ext cx="242887" cy="2490995"/>
          </a:xfrm>
          <a:custGeom>
            <a:avLst/>
            <a:gdLst/>
            <a:ahLst/>
            <a:cxnLst/>
            <a:rect l="l" t="t" r="r" b="b"/>
            <a:pathLst>
              <a:path w="242887" h="2490995">
                <a:moveTo>
                  <a:pt x="28575" y="0"/>
                </a:moveTo>
                <a:lnTo>
                  <a:pt x="214312" y="0"/>
                </a:lnTo>
                <a:lnTo>
                  <a:pt x="215715" y="34"/>
                </a:lnTo>
                <a:lnTo>
                  <a:pt x="217113" y="138"/>
                </a:lnTo>
                <a:lnTo>
                  <a:pt x="218505" y="309"/>
                </a:lnTo>
                <a:lnTo>
                  <a:pt x="219887" y="549"/>
                </a:lnTo>
                <a:lnTo>
                  <a:pt x="221256" y="856"/>
                </a:lnTo>
                <a:lnTo>
                  <a:pt x="222607" y="1230"/>
                </a:lnTo>
                <a:lnTo>
                  <a:pt x="223939" y="1670"/>
                </a:lnTo>
                <a:lnTo>
                  <a:pt x="225248" y="2175"/>
                </a:lnTo>
                <a:lnTo>
                  <a:pt x="226530" y="2744"/>
                </a:lnTo>
                <a:lnTo>
                  <a:pt x="227783" y="3374"/>
                </a:lnTo>
                <a:lnTo>
                  <a:pt x="229003" y="4065"/>
                </a:lnTo>
                <a:lnTo>
                  <a:pt x="230188" y="4816"/>
                </a:lnTo>
                <a:lnTo>
                  <a:pt x="231335" y="5623"/>
                </a:lnTo>
                <a:lnTo>
                  <a:pt x="232440" y="6486"/>
                </a:lnTo>
                <a:lnTo>
                  <a:pt x="233502" y="7402"/>
                </a:lnTo>
                <a:lnTo>
                  <a:pt x="234518" y="8369"/>
                </a:lnTo>
                <a:lnTo>
                  <a:pt x="235485" y="9385"/>
                </a:lnTo>
                <a:lnTo>
                  <a:pt x="236401" y="10447"/>
                </a:lnTo>
                <a:lnTo>
                  <a:pt x="237264" y="11553"/>
                </a:lnTo>
                <a:lnTo>
                  <a:pt x="238072" y="12700"/>
                </a:lnTo>
                <a:lnTo>
                  <a:pt x="238822" y="13885"/>
                </a:lnTo>
                <a:lnTo>
                  <a:pt x="239513" y="15105"/>
                </a:lnTo>
                <a:lnTo>
                  <a:pt x="240144" y="16358"/>
                </a:lnTo>
                <a:lnTo>
                  <a:pt x="240712" y="17640"/>
                </a:lnTo>
                <a:lnTo>
                  <a:pt x="241217" y="18948"/>
                </a:lnTo>
                <a:lnTo>
                  <a:pt x="241657" y="20280"/>
                </a:lnTo>
                <a:lnTo>
                  <a:pt x="242031" y="21632"/>
                </a:lnTo>
                <a:lnTo>
                  <a:pt x="242338" y="23000"/>
                </a:lnTo>
                <a:lnTo>
                  <a:pt x="242578" y="24382"/>
                </a:lnTo>
                <a:lnTo>
                  <a:pt x="242750" y="25774"/>
                </a:lnTo>
                <a:lnTo>
                  <a:pt x="242853" y="27173"/>
                </a:lnTo>
                <a:lnTo>
                  <a:pt x="242887" y="28575"/>
                </a:lnTo>
                <a:lnTo>
                  <a:pt x="242887" y="2490995"/>
                </a:lnTo>
                <a:lnTo>
                  <a:pt x="0" y="2490995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1749" y="1920271"/>
            <a:ext cx="242888" cy="2490995"/>
          </a:xfrm>
          <a:custGeom>
            <a:avLst/>
            <a:gdLst/>
            <a:ahLst/>
            <a:cxnLst/>
            <a:rect l="l" t="t" r="r" b="b"/>
            <a:pathLst>
              <a:path w="242888" h="2490995">
                <a:moveTo>
                  <a:pt x="28575" y="0"/>
                </a:moveTo>
                <a:lnTo>
                  <a:pt x="214313" y="0"/>
                </a:lnTo>
                <a:lnTo>
                  <a:pt x="215715" y="34"/>
                </a:lnTo>
                <a:lnTo>
                  <a:pt x="217113" y="138"/>
                </a:lnTo>
                <a:lnTo>
                  <a:pt x="218505" y="309"/>
                </a:lnTo>
                <a:lnTo>
                  <a:pt x="219887" y="549"/>
                </a:lnTo>
                <a:lnTo>
                  <a:pt x="221256" y="856"/>
                </a:lnTo>
                <a:lnTo>
                  <a:pt x="222607" y="1230"/>
                </a:lnTo>
                <a:lnTo>
                  <a:pt x="223939" y="1670"/>
                </a:lnTo>
                <a:lnTo>
                  <a:pt x="225248" y="2175"/>
                </a:lnTo>
                <a:lnTo>
                  <a:pt x="226530" y="2744"/>
                </a:lnTo>
                <a:lnTo>
                  <a:pt x="227783" y="3374"/>
                </a:lnTo>
                <a:lnTo>
                  <a:pt x="229003" y="4065"/>
                </a:lnTo>
                <a:lnTo>
                  <a:pt x="230188" y="4816"/>
                </a:lnTo>
                <a:lnTo>
                  <a:pt x="231335" y="5623"/>
                </a:lnTo>
                <a:lnTo>
                  <a:pt x="232440" y="6486"/>
                </a:lnTo>
                <a:lnTo>
                  <a:pt x="233502" y="7402"/>
                </a:lnTo>
                <a:lnTo>
                  <a:pt x="234518" y="8369"/>
                </a:lnTo>
                <a:lnTo>
                  <a:pt x="235485" y="9385"/>
                </a:lnTo>
                <a:lnTo>
                  <a:pt x="236401" y="10447"/>
                </a:lnTo>
                <a:lnTo>
                  <a:pt x="237264" y="11553"/>
                </a:lnTo>
                <a:lnTo>
                  <a:pt x="238072" y="12700"/>
                </a:lnTo>
                <a:lnTo>
                  <a:pt x="238822" y="13885"/>
                </a:lnTo>
                <a:lnTo>
                  <a:pt x="239513" y="15105"/>
                </a:lnTo>
                <a:lnTo>
                  <a:pt x="240144" y="16358"/>
                </a:lnTo>
                <a:lnTo>
                  <a:pt x="240712" y="17640"/>
                </a:lnTo>
                <a:lnTo>
                  <a:pt x="241217" y="18948"/>
                </a:lnTo>
                <a:lnTo>
                  <a:pt x="241657" y="20280"/>
                </a:lnTo>
                <a:lnTo>
                  <a:pt x="242031" y="21632"/>
                </a:lnTo>
                <a:lnTo>
                  <a:pt x="242338" y="23000"/>
                </a:lnTo>
                <a:lnTo>
                  <a:pt x="242578" y="24382"/>
                </a:lnTo>
                <a:lnTo>
                  <a:pt x="242750" y="25774"/>
                </a:lnTo>
                <a:lnTo>
                  <a:pt x="242853" y="27173"/>
                </a:lnTo>
                <a:lnTo>
                  <a:pt x="242888" y="28575"/>
                </a:lnTo>
                <a:lnTo>
                  <a:pt x="242888" y="2490995"/>
                </a:lnTo>
                <a:lnTo>
                  <a:pt x="0" y="2490995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24" name="Shape 22"/>
          <p:cNvSpPr/>
          <p:nvPr/>
        </p:nvSpPr>
        <p:spPr>
          <a:xfrm>
            <a:off x="3900011" y="1920271"/>
            <a:ext cx="242888" cy="2490995"/>
          </a:xfrm>
          <a:custGeom>
            <a:avLst/>
            <a:gdLst/>
            <a:ahLst/>
            <a:cxnLst/>
            <a:rect l="l" t="t" r="r" b="b"/>
            <a:pathLst>
              <a:path w="242888" h="2490995">
                <a:moveTo>
                  <a:pt x="28575" y="0"/>
                </a:moveTo>
                <a:lnTo>
                  <a:pt x="214313" y="0"/>
                </a:lnTo>
                <a:lnTo>
                  <a:pt x="215715" y="34"/>
                </a:lnTo>
                <a:lnTo>
                  <a:pt x="217113" y="138"/>
                </a:lnTo>
                <a:lnTo>
                  <a:pt x="218505" y="309"/>
                </a:lnTo>
                <a:lnTo>
                  <a:pt x="219887" y="549"/>
                </a:lnTo>
                <a:lnTo>
                  <a:pt x="221256" y="856"/>
                </a:lnTo>
                <a:lnTo>
                  <a:pt x="222607" y="1230"/>
                </a:lnTo>
                <a:lnTo>
                  <a:pt x="223939" y="1670"/>
                </a:lnTo>
                <a:lnTo>
                  <a:pt x="225248" y="2175"/>
                </a:lnTo>
                <a:lnTo>
                  <a:pt x="226530" y="2744"/>
                </a:lnTo>
                <a:lnTo>
                  <a:pt x="227783" y="3374"/>
                </a:lnTo>
                <a:lnTo>
                  <a:pt x="229003" y="4065"/>
                </a:lnTo>
                <a:lnTo>
                  <a:pt x="230188" y="4816"/>
                </a:lnTo>
                <a:lnTo>
                  <a:pt x="231335" y="5623"/>
                </a:lnTo>
                <a:lnTo>
                  <a:pt x="232440" y="6486"/>
                </a:lnTo>
                <a:lnTo>
                  <a:pt x="233502" y="7402"/>
                </a:lnTo>
                <a:lnTo>
                  <a:pt x="234518" y="8369"/>
                </a:lnTo>
                <a:lnTo>
                  <a:pt x="235485" y="9385"/>
                </a:lnTo>
                <a:lnTo>
                  <a:pt x="236401" y="10447"/>
                </a:lnTo>
                <a:lnTo>
                  <a:pt x="237264" y="11553"/>
                </a:lnTo>
                <a:lnTo>
                  <a:pt x="238072" y="12700"/>
                </a:lnTo>
                <a:lnTo>
                  <a:pt x="238822" y="13885"/>
                </a:lnTo>
                <a:lnTo>
                  <a:pt x="239513" y="15105"/>
                </a:lnTo>
                <a:lnTo>
                  <a:pt x="240144" y="16358"/>
                </a:lnTo>
                <a:lnTo>
                  <a:pt x="240712" y="17640"/>
                </a:lnTo>
                <a:lnTo>
                  <a:pt x="241217" y="18948"/>
                </a:lnTo>
                <a:lnTo>
                  <a:pt x="241657" y="20280"/>
                </a:lnTo>
                <a:lnTo>
                  <a:pt x="242031" y="21632"/>
                </a:lnTo>
                <a:lnTo>
                  <a:pt x="242338" y="23000"/>
                </a:lnTo>
                <a:lnTo>
                  <a:pt x="242578" y="24382"/>
                </a:lnTo>
                <a:lnTo>
                  <a:pt x="242750" y="25774"/>
                </a:lnTo>
                <a:lnTo>
                  <a:pt x="242853" y="27173"/>
                </a:lnTo>
                <a:lnTo>
                  <a:pt x="242888" y="28575"/>
                </a:lnTo>
                <a:lnTo>
                  <a:pt x="242888" y="2490995"/>
                </a:lnTo>
                <a:lnTo>
                  <a:pt x="0" y="2490995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25" name="Shape 23"/>
          <p:cNvSpPr/>
          <p:nvPr/>
        </p:nvSpPr>
        <p:spPr>
          <a:xfrm>
            <a:off x="1514951" y="3756134"/>
            <a:ext cx="242888" cy="655132"/>
          </a:xfrm>
          <a:custGeom>
            <a:avLst/>
            <a:gdLst/>
            <a:ahLst/>
            <a:cxnLst/>
            <a:rect l="l" t="t" r="r" b="b"/>
            <a:pathLst>
              <a:path w="242888" h="655132">
                <a:moveTo>
                  <a:pt x="28575" y="0"/>
                </a:moveTo>
                <a:lnTo>
                  <a:pt x="214313" y="0"/>
                </a:lnTo>
                <a:lnTo>
                  <a:pt x="215715" y="34"/>
                </a:lnTo>
                <a:lnTo>
                  <a:pt x="217113" y="138"/>
                </a:lnTo>
                <a:lnTo>
                  <a:pt x="218505" y="309"/>
                </a:lnTo>
                <a:lnTo>
                  <a:pt x="219887" y="549"/>
                </a:lnTo>
                <a:lnTo>
                  <a:pt x="221256" y="856"/>
                </a:lnTo>
                <a:lnTo>
                  <a:pt x="222607" y="1230"/>
                </a:lnTo>
                <a:lnTo>
                  <a:pt x="223939" y="1670"/>
                </a:lnTo>
                <a:lnTo>
                  <a:pt x="225248" y="2175"/>
                </a:lnTo>
                <a:lnTo>
                  <a:pt x="226530" y="2744"/>
                </a:lnTo>
                <a:lnTo>
                  <a:pt x="227783" y="3374"/>
                </a:lnTo>
                <a:lnTo>
                  <a:pt x="229003" y="4065"/>
                </a:lnTo>
                <a:lnTo>
                  <a:pt x="230188" y="4816"/>
                </a:lnTo>
                <a:lnTo>
                  <a:pt x="231335" y="5623"/>
                </a:lnTo>
                <a:lnTo>
                  <a:pt x="232440" y="6486"/>
                </a:lnTo>
                <a:lnTo>
                  <a:pt x="233502" y="7402"/>
                </a:lnTo>
                <a:lnTo>
                  <a:pt x="234518" y="8369"/>
                </a:lnTo>
                <a:lnTo>
                  <a:pt x="235485" y="9385"/>
                </a:lnTo>
                <a:lnTo>
                  <a:pt x="236401" y="10447"/>
                </a:lnTo>
                <a:lnTo>
                  <a:pt x="237264" y="11553"/>
                </a:lnTo>
                <a:lnTo>
                  <a:pt x="238072" y="12700"/>
                </a:lnTo>
                <a:lnTo>
                  <a:pt x="238822" y="13885"/>
                </a:lnTo>
                <a:lnTo>
                  <a:pt x="239513" y="15105"/>
                </a:lnTo>
                <a:lnTo>
                  <a:pt x="240144" y="16358"/>
                </a:lnTo>
                <a:lnTo>
                  <a:pt x="240712" y="17640"/>
                </a:lnTo>
                <a:lnTo>
                  <a:pt x="241217" y="18948"/>
                </a:lnTo>
                <a:lnTo>
                  <a:pt x="241657" y="20280"/>
                </a:lnTo>
                <a:lnTo>
                  <a:pt x="242031" y="21632"/>
                </a:lnTo>
                <a:lnTo>
                  <a:pt x="242338" y="23000"/>
                </a:lnTo>
                <a:lnTo>
                  <a:pt x="242578" y="24382"/>
                </a:lnTo>
                <a:lnTo>
                  <a:pt x="242750" y="25774"/>
                </a:lnTo>
                <a:lnTo>
                  <a:pt x="242853" y="27173"/>
                </a:lnTo>
                <a:lnTo>
                  <a:pt x="242888" y="28575"/>
                </a:lnTo>
                <a:lnTo>
                  <a:pt x="242888" y="655132"/>
                </a:lnTo>
                <a:lnTo>
                  <a:pt x="0" y="655132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14B8A6"/>
          </a:solidFill>
          <a:ln/>
        </p:spPr>
      </p:sp>
      <p:sp>
        <p:nvSpPr>
          <p:cNvPr id="26" name="Shape 24"/>
          <p:cNvSpPr/>
          <p:nvPr/>
        </p:nvSpPr>
        <p:spPr>
          <a:xfrm>
            <a:off x="2853214" y="3646530"/>
            <a:ext cx="242888" cy="764736"/>
          </a:xfrm>
          <a:custGeom>
            <a:avLst/>
            <a:gdLst/>
            <a:ahLst/>
            <a:cxnLst/>
            <a:rect l="l" t="t" r="r" b="b"/>
            <a:pathLst>
              <a:path w="242888" h="764736">
                <a:moveTo>
                  <a:pt x="28575" y="0"/>
                </a:moveTo>
                <a:lnTo>
                  <a:pt x="214313" y="0"/>
                </a:lnTo>
                <a:lnTo>
                  <a:pt x="215715" y="34"/>
                </a:lnTo>
                <a:lnTo>
                  <a:pt x="217113" y="138"/>
                </a:lnTo>
                <a:lnTo>
                  <a:pt x="218505" y="309"/>
                </a:lnTo>
                <a:lnTo>
                  <a:pt x="219887" y="549"/>
                </a:lnTo>
                <a:lnTo>
                  <a:pt x="221256" y="856"/>
                </a:lnTo>
                <a:lnTo>
                  <a:pt x="222607" y="1230"/>
                </a:lnTo>
                <a:lnTo>
                  <a:pt x="223939" y="1670"/>
                </a:lnTo>
                <a:lnTo>
                  <a:pt x="225248" y="2175"/>
                </a:lnTo>
                <a:lnTo>
                  <a:pt x="226530" y="2744"/>
                </a:lnTo>
                <a:lnTo>
                  <a:pt x="227783" y="3374"/>
                </a:lnTo>
                <a:lnTo>
                  <a:pt x="229003" y="4065"/>
                </a:lnTo>
                <a:lnTo>
                  <a:pt x="230188" y="4816"/>
                </a:lnTo>
                <a:lnTo>
                  <a:pt x="231335" y="5623"/>
                </a:lnTo>
                <a:lnTo>
                  <a:pt x="232440" y="6486"/>
                </a:lnTo>
                <a:lnTo>
                  <a:pt x="233502" y="7402"/>
                </a:lnTo>
                <a:lnTo>
                  <a:pt x="234518" y="8369"/>
                </a:lnTo>
                <a:lnTo>
                  <a:pt x="235485" y="9385"/>
                </a:lnTo>
                <a:lnTo>
                  <a:pt x="236401" y="10447"/>
                </a:lnTo>
                <a:lnTo>
                  <a:pt x="237264" y="11553"/>
                </a:lnTo>
                <a:lnTo>
                  <a:pt x="238072" y="12700"/>
                </a:lnTo>
                <a:lnTo>
                  <a:pt x="238822" y="13885"/>
                </a:lnTo>
                <a:lnTo>
                  <a:pt x="239513" y="15105"/>
                </a:lnTo>
                <a:lnTo>
                  <a:pt x="240144" y="16358"/>
                </a:lnTo>
                <a:lnTo>
                  <a:pt x="240712" y="17640"/>
                </a:lnTo>
                <a:lnTo>
                  <a:pt x="241217" y="18948"/>
                </a:lnTo>
                <a:lnTo>
                  <a:pt x="241657" y="20280"/>
                </a:lnTo>
                <a:lnTo>
                  <a:pt x="242031" y="21632"/>
                </a:lnTo>
                <a:lnTo>
                  <a:pt x="242338" y="23000"/>
                </a:lnTo>
                <a:lnTo>
                  <a:pt x="242578" y="24382"/>
                </a:lnTo>
                <a:lnTo>
                  <a:pt x="242750" y="25774"/>
                </a:lnTo>
                <a:lnTo>
                  <a:pt x="242853" y="27173"/>
                </a:lnTo>
                <a:lnTo>
                  <a:pt x="242888" y="28575"/>
                </a:lnTo>
                <a:lnTo>
                  <a:pt x="242888" y="764736"/>
                </a:lnTo>
                <a:lnTo>
                  <a:pt x="0" y="764736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14B8A6"/>
          </a:solidFill>
          <a:ln/>
        </p:spPr>
      </p:sp>
      <p:sp>
        <p:nvSpPr>
          <p:cNvPr id="27" name="Shape 25"/>
          <p:cNvSpPr/>
          <p:nvPr/>
        </p:nvSpPr>
        <p:spPr>
          <a:xfrm>
            <a:off x="4191476" y="1965109"/>
            <a:ext cx="242888" cy="2446156"/>
          </a:xfrm>
          <a:custGeom>
            <a:avLst/>
            <a:gdLst/>
            <a:ahLst/>
            <a:cxnLst/>
            <a:rect l="l" t="t" r="r" b="b"/>
            <a:pathLst>
              <a:path w="242888" h="2446156">
                <a:moveTo>
                  <a:pt x="28575" y="0"/>
                </a:moveTo>
                <a:lnTo>
                  <a:pt x="214313" y="0"/>
                </a:lnTo>
                <a:lnTo>
                  <a:pt x="215715" y="34"/>
                </a:lnTo>
                <a:lnTo>
                  <a:pt x="217113" y="138"/>
                </a:lnTo>
                <a:lnTo>
                  <a:pt x="218505" y="309"/>
                </a:lnTo>
                <a:lnTo>
                  <a:pt x="219887" y="549"/>
                </a:lnTo>
                <a:lnTo>
                  <a:pt x="221256" y="856"/>
                </a:lnTo>
                <a:lnTo>
                  <a:pt x="222607" y="1230"/>
                </a:lnTo>
                <a:lnTo>
                  <a:pt x="223939" y="1670"/>
                </a:lnTo>
                <a:lnTo>
                  <a:pt x="225248" y="2175"/>
                </a:lnTo>
                <a:lnTo>
                  <a:pt x="226530" y="2744"/>
                </a:lnTo>
                <a:lnTo>
                  <a:pt x="227783" y="3374"/>
                </a:lnTo>
                <a:lnTo>
                  <a:pt x="229003" y="4065"/>
                </a:lnTo>
                <a:lnTo>
                  <a:pt x="230188" y="4816"/>
                </a:lnTo>
                <a:lnTo>
                  <a:pt x="231335" y="5623"/>
                </a:lnTo>
                <a:lnTo>
                  <a:pt x="232440" y="6486"/>
                </a:lnTo>
                <a:lnTo>
                  <a:pt x="233502" y="7402"/>
                </a:lnTo>
                <a:lnTo>
                  <a:pt x="234518" y="8369"/>
                </a:lnTo>
                <a:lnTo>
                  <a:pt x="235485" y="9385"/>
                </a:lnTo>
                <a:lnTo>
                  <a:pt x="236401" y="10447"/>
                </a:lnTo>
                <a:lnTo>
                  <a:pt x="237264" y="11553"/>
                </a:lnTo>
                <a:lnTo>
                  <a:pt x="238072" y="12700"/>
                </a:lnTo>
                <a:lnTo>
                  <a:pt x="238822" y="13885"/>
                </a:lnTo>
                <a:lnTo>
                  <a:pt x="239513" y="15105"/>
                </a:lnTo>
                <a:lnTo>
                  <a:pt x="240144" y="16358"/>
                </a:lnTo>
                <a:lnTo>
                  <a:pt x="240712" y="17640"/>
                </a:lnTo>
                <a:lnTo>
                  <a:pt x="241217" y="18948"/>
                </a:lnTo>
                <a:lnTo>
                  <a:pt x="241657" y="20280"/>
                </a:lnTo>
                <a:lnTo>
                  <a:pt x="242031" y="21632"/>
                </a:lnTo>
                <a:lnTo>
                  <a:pt x="242338" y="23000"/>
                </a:lnTo>
                <a:lnTo>
                  <a:pt x="242578" y="24382"/>
                </a:lnTo>
                <a:lnTo>
                  <a:pt x="242750" y="25774"/>
                </a:lnTo>
                <a:lnTo>
                  <a:pt x="242853" y="27173"/>
                </a:lnTo>
                <a:lnTo>
                  <a:pt x="242888" y="28575"/>
                </a:lnTo>
                <a:lnTo>
                  <a:pt x="242888" y="2446156"/>
                </a:lnTo>
                <a:lnTo>
                  <a:pt x="0" y="2446156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803434" y="1781682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100.0%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2141696" y="1781682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100.0%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3479959" y="1781682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100.0%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1169908" y="3617545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26.3%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2508171" y="3507941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30.7%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3846433" y="1826520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98.2%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1974296" y="1260872"/>
            <a:ext cx="1494945" cy="171450"/>
          </a:xfrm>
          <a:custGeom>
            <a:avLst/>
            <a:gdLst/>
            <a:ahLst/>
            <a:cxnLst/>
            <a:rect l="l" t="t" r="r" b="b"/>
            <a:pathLst>
              <a:path w="1494945" h="171450">
                <a:moveTo>
                  <a:pt x="0" y="0"/>
                </a:moveTo>
                <a:lnTo>
                  <a:pt x="1494945" y="0"/>
                </a:lnTo>
                <a:lnTo>
                  <a:pt x="1494945" y="171450"/>
                </a:lnTo>
                <a:lnTo>
                  <a:pt x="0" y="171450"/>
                </a:lnTo>
                <a:close/>
              </a:path>
            </a:pathLst>
          </a:custGeom>
          <a:noFill/>
          <a:ln/>
        </p:spPr>
      </p:sp>
      <p:sp>
        <p:nvSpPr>
          <p:cNvPr id="35" name="Shape 33"/>
          <p:cNvSpPr/>
          <p:nvPr/>
        </p:nvSpPr>
        <p:spPr>
          <a:xfrm>
            <a:off x="2010015" y="1296591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36" name="Text 34"/>
          <p:cNvSpPr/>
          <p:nvPr/>
        </p:nvSpPr>
        <p:spPr>
          <a:xfrm>
            <a:off x="2224327" y="1286589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FP32 基线</a:t>
            </a:r>
            <a:endParaRPr lang="en-US" sz="788" dirty="0"/>
          </a:p>
        </p:txBody>
      </p:sp>
      <p:sp>
        <p:nvSpPr>
          <p:cNvPr id="37" name="Shape 35"/>
          <p:cNvSpPr/>
          <p:nvPr/>
        </p:nvSpPr>
        <p:spPr>
          <a:xfrm>
            <a:off x="2010015" y="1296591"/>
            <a:ext cx="642606" cy="100013"/>
          </a:xfrm>
          <a:custGeom>
            <a:avLst/>
            <a:gdLst/>
            <a:ahLst/>
            <a:cxnLst/>
            <a:rect l="l" t="t" r="r" b="b"/>
            <a:pathLst>
              <a:path w="642606" h="100013">
                <a:moveTo>
                  <a:pt x="0" y="0"/>
                </a:moveTo>
                <a:lnTo>
                  <a:pt x="642606" y="0"/>
                </a:lnTo>
                <a:lnTo>
                  <a:pt x="642606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38" name="Shape 36"/>
          <p:cNvSpPr/>
          <p:nvPr/>
        </p:nvSpPr>
        <p:spPr>
          <a:xfrm>
            <a:off x="2795497" y="1296591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3009809" y="1286589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INT8 量化</a:t>
            </a:r>
            <a:endParaRPr lang="en-US" sz="788" dirty="0"/>
          </a:p>
        </p:txBody>
      </p:sp>
      <p:sp>
        <p:nvSpPr>
          <p:cNvPr id="40" name="Shape 38"/>
          <p:cNvSpPr/>
          <p:nvPr/>
        </p:nvSpPr>
        <p:spPr>
          <a:xfrm>
            <a:off x="2795497" y="1296591"/>
            <a:ext cx="638026" cy="100013"/>
          </a:xfrm>
          <a:custGeom>
            <a:avLst/>
            <a:gdLst/>
            <a:ahLst/>
            <a:cxnLst/>
            <a:rect l="l" t="t" r="r" b="b"/>
            <a:pathLst>
              <a:path w="638026" h="100013">
                <a:moveTo>
                  <a:pt x="0" y="0"/>
                </a:moveTo>
                <a:lnTo>
                  <a:pt x="638026" y="0"/>
                </a:lnTo>
                <a:lnTo>
                  <a:pt x="638026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41" name="Shape 39"/>
          <p:cNvSpPr/>
          <p:nvPr/>
        </p:nvSpPr>
        <p:spPr>
          <a:xfrm>
            <a:off x="5273483" y="772139"/>
            <a:ext cx="3529013" cy="1271588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73483" y="2130679"/>
            <a:ext cx="3529013" cy="1271588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73483" y="3489220"/>
            <a:ext cx="3529013" cy="1271588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45248"/>
            <a:ext cx="9144000" cy="300038"/>
          </a:xfrm>
          <a:prstGeom prst="rect">
            <a:avLst/>
          </a:prstGeom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45248"/>
            <a:ext cx="9144000" cy="30003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455581" y="283964"/>
            <a:ext cx="4186238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INT8 静态量化将模型体积压缩至浏览器可加载范围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542925" y="544711"/>
            <a:ext cx="82581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模型轻量化 · ONNX Runtime Web 端侧部署硬核指标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494314" y="892969"/>
            <a:ext cx="445770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量化前后相对指标对比（FP32 基线 = 100%）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494314" y="1055489"/>
            <a:ext cx="4457700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INT8 权重 + FP32 激活混合精度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396322" y="894755"/>
            <a:ext cx="3714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模型体积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8237079" y="891183"/>
            <a:ext cx="442912" cy="150019"/>
          </a:xfrm>
          <a:prstGeom prst="roundRect">
            <a:avLst>
              <a:gd name="adj" fmla="val 76190"/>
            </a:avLst>
          </a:prstGeom>
          <a:solidFill>
            <a:srgbClr val="14B8A6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73.7%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5394703" y="1307864"/>
            <a:ext cx="66436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7.28 MB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6112818" y="1356085"/>
            <a:ext cx="450056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27.66 MB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394927" y="1794197"/>
            <a:ext cx="32861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INT8 权重 + FP32 激活，浏览器可秒级加载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5396322" y="2253295"/>
            <a:ext cx="3714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推理耗时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8199965" y="2249723"/>
            <a:ext cx="478631" cy="150019"/>
          </a:xfrm>
          <a:prstGeom prst="roundRect">
            <a:avLst>
              <a:gd name="adj" fmla="val 76190"/>
            </a:avLst>
          </a:prstGeom>
          <a:solidFill>
            <a:srgbClr val="14B8A6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3.3× 加速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5395429" y="2666405"/>
            <a:ext cx="650081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3.76 ms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6100093" y="2714625"/>
            <a:ext cx="442912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12.26 ms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5394927" y="3152738"/>
            <a:ext cx="32861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WebAssembly 后端单张图端侧推理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5396322" y="3611835"/>
            <a:ext cx="3714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精度保留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8115467" y="3608263"/>
            <a:ext cx="564356" cy="150019"/>
          </a:xfrm>
          <a:prstGeom prst="roundRect">
            <a:avLst>
              <a:gd name="adj" fmla="val 76190"/>
            </a:avLst>
          </a:prstGeom>
          <a:solidFill>
            <a:srgbClr val="0F4C81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AUC 91.77%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394927" y="4024945"/>
            <a:ext cx="5643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0.9177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6016210" y="4073165"/>
            <a:ext cx="235744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AUC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5394927" y="4511278"/>
            <a:ext cx="32861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校准集静态量化，mAP 损失仅 1.76%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43960" y="4938117"/>
            <a:ext cx="225742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量化方法：ONNX Runtime 静态量化 · 校准数据集 200 张眼底图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7244544" y="4938117"/>
            <a:ext cx="1557337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基层眼底 AI 辅助筛查系统 · 纯前端端侧推理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786"/>
            <a:ext cx="9144000" cy="878681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786"/>
            <a:ext cx="9144000" cy="8786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2900" y="228600"/>
            <a:ext cx="28575" cy="200025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332309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2900" y="1860947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2900" y="2389584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" y="2918222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86300" y="1332309"/>
            <a:ext cx="2014538" cy="642938"/>
          </a:xfrm>
          <a:prstGeom prst="roundRect">
            <a:avLst>
              <a:gd name="adj" fmla="val 316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86563" y="1332309"/>
            <a:ext cx="2014538" cy="642938"/>
          </a:xfrm>
          <a:prstGeom prst="roundRect">
            <a:avLst>
              <a:gd name="adj" fmla="val 316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86300" y="2060972"/>
            <a:ext cx="2014538" cy="642938"/>
          </a:xfrm>
          <a:prstGeom prst="roundRect">
            <a:avLst>
              <a:gd name="adj" fmla="val 316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86563" y="2060972"/>
            <a:ext cx="2014538" cy="642938"/>
          </a:xfrm>
          <a:prstGeom prst="roundRect">
            <a:avLst>
              <a:gd name="adj" fmla="val 316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86300" y="2789634"/>
            <a:ext cx="4114800" cy="785813"/>
          </a:xfrm>
          <a:prstGeom prst="roundRect">
            <a:avLst>
              <a:gd name="adj" fmla="val 8463"/>
            </a:avLst>
          </a:prstGeom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36331" y="3046809"/>
            <a:ext cx="199571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单一职责：每个 composable 只承担一个推理阶段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936331" y="3203972"/>
            <a:ext cx="2252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依赖注入：模型 Session 通过参数传入，不绑定具体实例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936331" y="3361134"/>
            <a:ext cx="19529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响应式输出：推理结果以 ref 暴露，视图自动更新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0" y="4850606"/>
            <a:ext cx="9144000" cy="292894"/>
          </a:xfrm>
          <a:prstGeom prst="rect">
            <a:avLst/>
          </a:prstGeom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850606"/>
            <a:ext cx="9144000" cy="29289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6474" y="257175"/>
            <a:ext cx="15144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前端工程亮点 · ENGINEERING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342900" y="483989"/>
            <a:ext cx="8458200" cy="2714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推理逻辑工程化封装提升前端可维护性与复用性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42900" y="1075134"/>
            <a:ext cx="457200" cy="142875"/>
          </a:xfrm>
          <a:prstGeom prst="roundRect">
            <a:avLst>
              <a:gd name="adj" fmla="val 32000"/>
            </a:avLst>
          </a:prstGeom>
          <a:solidFill>
            <a:srgbClr val="F1F5F9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架构分层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855855" y="1046559"/>
            <a:ext cx="1957388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Vue 3 Composable 推理封装模式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65069" y="1439466"/>
            <a:ext cx="92869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01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643719" y="1425178"/>
            <a:ext cx="2678906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useModelLoader()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643719" y="1596628"/>
            <a:ext cx="2678906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封装 ONNX 模型加载与 Session 生命周期管理，支持懒加载与缓存复用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465069" y="1968103"/>
            <a:ext cx="92869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02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644389" y="1953816"/>
            <a:ext cx="26574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usePreprocess()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644389" y="2125266"/>
            <a:ext cx="2657475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图像缩放、归一化、通道转换独立为纯函数，可跨组件复用与单元测试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465069" y="2496741"/>
            <a:ext cx="92869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03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643496" y="2482453"/>
            <a:ext cx="2636044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useInference()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643496" y="2653903"/>
            <a:ext cx="2636044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编排加载→预处理→推理→后处理全链路，对外暴露统一的 run() 接口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465069" y="3025378"/>
            <a:ext cx="92869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04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644389" y="3011091"/>
            <a:ext cx="23145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useReportGenerator()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644389" y="3182541"/>
            <a:ext cx="2314575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推理结果与阈值判定解耦，报告生成模块独立消费结构化输出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4686300" y="1075134"/>
            <a:ext cx="457200" cy="142875"/>
          </a:xfrm>
          <a:prstGeom prst="roundRect">
            <a:avLst>
              <a:gd name="adj" fmla="val 32000"/>
            </a:avLst>
          </a:prstGeom>
          <a:solidFill>
            <a:srgbClr val="F1F5F9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工程指标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5200650" y="1046559"/>
            <a:ext cx="900113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模块化封装收益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522063" y="1453753"/>
            <a:ext cx="342900" cy="2571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4×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5307806" y="1739503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推理逻辑复用模块数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7500938" y="1453753"/>
            <a:ext cx="585788" cy="2571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7322288" y="1739503"/>
            <a:ext cx="94297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前端推理管线 100% 解耦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5629219" y="2182416"/>
            <a:ext cx="128588" cy="2571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5264944" y="2468166"/>
            <a:ext cx="857250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推理逻辑耦合至视图层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7579519" y="2182416"/>
            <a:ext cx="428625" cy="2571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单测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7322344" y="2468166"/>
            <a:ext cx="94297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纯函数预处理可独立测试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4807744" y="2882503"/>
            <a:ext cx="387191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设计原则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4807744" y="3053953"/>
            <a:ext cx="714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4807744" y="3211116"/>
            <a:ext cx="714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700" dirty="0"/>
          </a:p>
        </p:txBody>
      </p:sp>
      <p:sp>
        <p:nvSpPr>
          <p:cNvPr id="49" name="Text 45"/>
          <p:cNvSpPr/>
          <p:nvPr/>
        </p:nvSpPr>
        <p:spPr>
          <a:xfrm>
            <a:off x="4807744" y="3368278"/>
            <a:ext cx="714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41393" y="4943475"/>
            <a:ext cx="1443038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基层眼底 AI 辅助筛查系统 · 纯前端版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6678960" y="4943475"/>
            <a:ext cx="2121694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Vue 3 Composable · JavaScript · onnxruntime-web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1222" y="999734"/>
            <a:ext cx="2664619" cy="3171825"/>
          </a:xfrm>
          <a:prstGeom prst="roundRect">
            <a:avLst>
              <a:gd name="adj" fmla="val 1104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39635" y="999734"/>
            <a:ext cx="2664619" cy="3171825"/>
          </a:xfrm>
          <a:prstGeom prst="roundRect">
            <a:avLst>
              <a:gd name="adj" fmla="val 1104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078103" y="999734"/>
            <a:ext cx="2664619" cy="3171825"/>
          </a:xfrm>
          <a:prstGeom prst="roundRect">
            <a:avLst>
              <a:gd name="adj" fmla="val 1104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4314825"/>
            <a:ext cx="8343900" cy="350044"/>
          </a:xfrm>
          <a:prstGeom prst="roundRect">
            <a:avLst>
              <a:gd name="adj" fmla="val 10662"/>
            </a:avLst>
          </a:prstGeom>
          <a:solidFill>
            <a:srgbClr val="F1F5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50" y="4314825"/>
            <a:ext cx="8343900" cy="3500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0050" y="4764881"/>
            <a:ext cx="8343900" cy="207169"/>
          </a:xfrm>
          <a:prstGeom prst="rect">
            <a:avLst/>
          </a:prstGeom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50" y="4764881"/>
            <a:ext cx="8343900" cy="2071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8487" y="255389"/>
            <a:ext cx="750094" cy="200025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none" lIns="85011" tIns="24289" rIns="85011" bIns="24289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/ UX 设计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398655" y="555036"/>
            <a:ext cx="4672013" cy="2714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可信 AI 交互设计平衡专业可信度与操作易用性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536656" y="520768"/>
            <a:ext cx="1207294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三原则 · 一目标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536656" y="678600"/>
            <a:ext cx="120729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面向基层医护的端侧筛查界面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564356" y="1163650"/>
            <a:ext cx="271463" cy="271463"/>
          </a:xfrm>
          <a:prstGeom prst="roundRect">
            <a:avLst>
              <a:gd name="adj" fmla="val 22161"/>
            </a:avLst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21544" y="1202941"/>
            <a:ext cx="642938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专业可信度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4356" y="1565095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28662" y="1562584"/>
            <a:ext cx="1400175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四病种概率与置信度可视化展示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564356" y="1825061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28662" y="1822549"/>
            <a:ext cx="1400175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阳性阈值透明展示，判定可追溯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564356" y="2085026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28663" y="2082515"/>
            <a:ext cx="1300163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模型版本与推理耗时显式标注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564356" y="2344992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28663" y="2342480"/>
            <a:ext cx="1200150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风险等级颜色编码统一规范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3402769" y="1163650"/>
            <a:ext cx="271463" cy="271463"/>
          </a:xfrm>
          <a:prstGeom prst="roundRect">
            <a:avLst>
              <a:gd name="adj" fmla="val 22161"/>
            </a:avLst>
          </a:prstGeom>
          <a:solidFill>
            <a:srgbClr val="14B8A6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759957" y="1202941"/>
            <a:ext cx="642938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操作易用性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02769" y="1565095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565457" y="1562584"/>
            <a:ext cx="1493044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上传 → 推理 → 报告三步极简流程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3402769" y="1825061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567075" y="1822549"/>
            <a:ext cx="1300163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大触控热区适配基层触屏设备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3402769" y="2085026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567075" y="2082515"/>
            <a:ext cx="1200150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引导式图像上传与质量校验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3402769" y="2344992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567075" y="2342480"/>
            <a:ext cx="1200150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零专业术语，一键操作完成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6241182" y="1163650"/>
            <a:ext cx="271463" cy="271463"/>
          </a:xfrm>
          <a:prstGeom prst="roundRect">
            <a:avLst>
              <a:gd name="adj" fmla="val 22161"/>
            </a:avLst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598369" y="1202941"/>
            <a:ext cx="642938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结果可解释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241182" y="1565095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405488" y="1562584"/>
            <a:ext cx="1200150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病种释义卡片辅助结果理解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6241182" y="1825061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405488" y="1822549"/>
            <a:ext cx="1100138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阳性结果附分级处置建议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6241182" y="2085026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403702" y="2082515"/>
            <a:ext cx="1235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前端一键生成 PDF 规范报告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6241182" y="2344992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▸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405488" y="2342480"/>
            <a:ext cx="1100138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历史记录本地可查可对比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571500" y="4414838"/>
            <a:ext cx="414338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设计目标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1099914" y="4414838"/>
            <a:ext cx="3936206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 AI 背景的基层医护可在 3 分钟内完成单例筛查全流程，结果可信、操作可循、输出可用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400441" y="4843463"/>
            <a:ext cx="242173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参考：医疗 AI 可信交互设计原则 · 基层筛查场景 UI 易用性设计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7200900" y="4843463"/>
            <a:ext cx="154305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用户操作完成率与满意度测试数据待补充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2475" y="257175"/>
            <a:ext cx="371475" cy="371475"/>
          </a:xfrm>
          <a:prstGeom prst="roundRect">
            <a:avLst>
              <a:gd name="adj" fmla="val 14201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93919" y="364331"/>
            <a:ext cx="57150" cy="142875"/>
          </a:xfrm>
          <a:custGeom>
            <a:avLst/>
            <a:gdLst/>
            <a:ahLst/>
            <a:cxnLst/>
            <a:rect l="l" t="t" r="r" b="b"/>
            <a:pathLst>
              <a:path w="57150" h="142875">
                <a:moveTo>
                  <a:pt x="57150" y="0"/>
                </a:moveTo>
                <a:lnTo>
                  <a:pt x="0" y="28575"/>
                </a:lnTo>
                <a:lnTo>
                  <a:pt x="0" y="71438"/>
                </a:lnTo>
                <a:lnTo>
                  <a:pt x="185" y="76740"/>
                </a:lnTo>
                <a:lnTo>
                  <a:pt x="732" y="81925"/>
                </a:lnTo>
                <a:lnTo>
                  <a:pt x="1627" y="86981"/>
                </a:lnTo>
                <a:lnTo>
                  <a:pt x="2858" y="91897"/>
                </a:lnTo>
                <a:lnTo>
                  <a:pt x="4409" y="96664"/>
                </a:lnTo>
                <a:lnTo>
                  <a:pt x="6269" y="101270"/>
                </a:lnTo>
                <a:lnTo>
                  <a:pt x="8423" y="105704"/>
                </a:lnTo>
                <a:lnTo>
                  <a:pt x="10858" y="109957"/>
                </a:lnTo>
                <a:lnTo>
                  <a:pt x="13562" y="114016"/>
                </a:lnTo>
                <a:lnTo>
                  <a:pt x="16520" y="117872"/>
                </a:lnTo>
                <a:lnTo>
                  <a:pt x="19719" y="121513"/>
                </a:lnTo>
                <a:lnTo>
                  <a:pt x="23146" y="124930"/>
                </a:lnTo>
                <a:lnTo>
                  <a:pt x="26787" y="128111"/>
                </a:lnTo>
                <a:lnTo>
                  <a:pt x="30629" y="131045"/>
                </a:lnTo>
                <a:lnTo>
                  <a:pt x="34658" y="133722"/>
                </a:lnTo>
                <a:lnTo>
                  <a:pt x="38862" y="136131"/>
                </a:lnTo>
                <a:lnTo>
                  <a:pt x="43226" y="138262"/>
                </a:lnTo>
                <a:lnTo>
                  <a:pt x="47738" y="140103"/>
                </a:lnTo>
                <a:lnTo>
                  <a:pt x="52384" y="141644"/>
                </a:lnTo>
                <a:lnTo>
                  <a:pt x="57150" y="142875"/>
                </a:lnTo>
                <a:lnTo>
                  <a:pt x="57150" y="28575"/>
                </a:lnTo>
                <a:lnTo>
                  <a:pt x="0" y="0"/>
                </a:lnTo>
                <a:close/>
              </a:path>
            </a:pathLst>
          </a:custGeom>
          <a:noFill/>
          <a:ln w="1143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9638" y="435769"/>
            <a:ext cx="14288" cy="14288"/>
          </a:xfrm>
          <a:prstGeom prst="line">
            <a:avLst/>
          </a:prstGeom>
          <a:noFill/>
          <a:ln w="11430">
            <a:solidFill>
              <a:srgbClr val="0F4C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9436" y="865398"/>
            <a:ext cx="3571875" cy="764381"/>
          </a:xfrm>
          <a:prstGeom prst="roundRect">
            <a:avLst>
              <a:gd name="adj" fmla="val 13416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0069" y="1037630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399436" y="1867198"/>
            <a:ext cx="3571875" cy="764381"/>
          </a:xfrm>
          <a:prstGeom prst="roundRect">
            <a:avLst>
              <a:gd name="adj" fmla="val 13416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0069" y="2039429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Shape 7"/>
          <p:cNvSpPr/>
          <p:nvPr/>
        </p:nvSpPr>
        <p:spPr>
          <a:xfrm>
            <a:off x="399436" y="2868997"/>
            <a:ext cx="3571875" cy="764381"/>
          </a:xfrm>
          <a:prstGeom prst="roundRect">
            <a:avLst>
              <a:gd name="adj" fmla="val 13416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0069" y="3041228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Shape 9"/>
          <p:cNvSpPr/>
          <p:nvPr/>
        </p:nvSpPr>
        <p:spPr>
          <a:xfrm>
            <a:off x="399436" y="3870796"/>
            <a:ext cx="3571875" cy="764381"/>
          </a:xfrm>
          <a:prstGeom prst="roundRect">
            <a:avLst>
              <a:gd name="adj" fmla="val 13416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0069" y="4043028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80757" y="2506799"/>
            <a:ext cx="380505" cy="439369"/>
          </a:xfrm>
          <a:custGeom>
            <a:avLst/>
            <a:gdLst/>
            <a:ahLst/>
            <a:cxnLst/>
            <a:rect l="l" t="t" r="r" b="b"/>
            <a:pathLst>
              <a:path w="380505" h="439369">
                <a:moveTo>
                  <a:pt x="190252" y="0"/>
                </a:moveTo>
                <a:lnTo>
                  <a:pt x="0" y="109842"/>
                </a:lnTo>
                <a:lnTo>
                  <a:pt x="0" y="329527"/>
                </a:lnTo>
                <a:lnTo>
                  <a:pt x="190252" y="439369"/>
                </a:lnTo>
                <a:lnTo>
                  <a:pt x="380505" y="329527"/>
                </a:lnTo>
                <a:lnTo>
                  <a:pt x="380505" y="109842"/>
                </a:lnTo>
                <a:lnTo>
                  <a:pt x="190252" y="0"/>
                </a:lnTo>
                <a:lnTo>
                  <a:pt x="190252" y="2196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00253" y="2067430"/>
            <a:ext cx="1141514" cy="1318108"/>
          </a:xfrm>
          <a:custGeom>
            <a:avLst/>
            <a:gdLst/>
            <a:ahLst/>
            <a:cxnLst/>
            <a:rect l="l" t="t" r="r" b="b"/>
            <a:pathLst>
              <a:path w="1141514" h="1318108">
                <a:moveTo>
                  <a:pt x="570757" y="0"/>
                </a:moveTo>
                <a:lnTo>
                  <a:pt x="0" y="329527"/>
                </a:lnTo>
                <a:lnTo>
                  <a:pt x="0" y="988581"/>
                </a:lnTo>
                <a:lnTo>
                  <a:pt x="570757" y="1318108"/>
                </a:lnTo>
                <a:lnTo>
                  <a:pt x="1141514" y="988581"/>
                </a:lnTo>
                <a:lnTo>
                  <a:pt x="1141514" y="329527"/>
                </a:lnTo>
                <a:lnTo>
                  <a:pt x="570757" y="0"/>
                </a:lnTo>
                <a:lnTo>
                  <a:pt x="570757" y="219685"/>
                </a:lnTo>
                <a:lnTo>
                  <a:pt x="951262" y="439369"/>
                </a:lnTo>
                <a:lnTo>
                  <a:pt x="951262" y="878738"/>
                </a:lnTo>
                <a:lnTo>
                  <a:pt x="570757" y="1098423"/>
                </a:lnTo>
                <a:lnTo>
                  <a:pt x="190252" y="878738"/>
                </a:lnTo>
                <a:lnTo>
                  <a:pt x="190252" y="439369"/>
                </a:lnTo>
                <a:lnTo>
                  <a:pt x="570757" y="2196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519747" y="1628061"/>
            <a:ext cx="1902525" cy="2196846"/>
          </a:xfrm>
          <a:custGeom>
            <a:avLst/>
            <a:gdLst/>
            <a:ahLst/>
            <a:cxnLst/>
            <a:rect l="l" t="t" r="r" b="b"/>
            <a:pathLst>
              <a:path w="1902525" h="2196846">
                <a:moveTo>
                  <a:pt x="951262" y="0"/>
                </a:moveTo>
                <a:lnTo>
                  <a:pt x="0" y="549212"/>
                </a:lnTo>
                <a:lnTo>
                  <a:pt x="0" y="1647635"/>
                </a:lnTo>
                <a:lnTo>
                  <a:pt x="951262" y="2196846"/>
                </a:lnTo>
                <a:lnTo>
                  <a:pt x="1902525" y="1647635"/>
                </a:lnTo>
                <a:lnTo>
                  <a:pt x="1902525" y="549212"/>
                </a:lnTo>
                <a:lnTo>
                  <a:pt x="951262" y="0"/>
                </a:lnTo>
                <a:lnTo>
                  <a:pt x="951262" y="219685"/>
                </a:lnTo>
                <a:lnTo>
                  <a:pt x="1712273" y="659054"/>
                </a:lnTo>
                <a:lnTo>
                  <a:pt x="1712273" y="1537792"/>
                </a:lnTo>
                <a:lnTo>
                  <a:pt x="951262" y="1977161"/>
                </a:lnTo>
                <a:lnTo>
                  <a:pt x="190252" y="1537792"/>
                </a:lnTo>
                <a:lnTo>
                  <a:pt x="190252" y="659054"/>
                </a:lnTo>
                <a:lnTo>
                  <a:pt x="951262" y="2196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0505" y="2287114"/>
            <a:ext cx="761009" cy="878738"/>
          </a:xfrm>
          <a:custGeom>
            <a:avLst/>
            <a:gdLst/>
            <a:ahLst/>
            <a:cxnLst/>
            <a:rect l="l" t="t" r="r" b="b"/>
            <a:pathLst>
              <a:path w="761009" h="878738">
                <a:moveTo>
                  <a:pt x="380505" y="0"/>
                </a:moveTo>
                <a:lnTo>
                  <a:pt x="0" y="219685"/>
                </a:lnTo>
                <a:lnTo>
                  <a:pt x="0" y="659054"/>
                </a:lnTo>
                <a:lnTo>
                  <a:pt x="380505" y="878738"/>
                </a:lnTo>
                <a:lnTo>
                  <a:pt x="761009" y="659054"/>
                </a:lnTo>
                <a:lnTo>
                  <a:pt x="761009" y="219685"/>
                </a:lnTo>
                <a:lnTo>
                  <a:pt x="380505" y="0"/>
                </a:lnTo>
                <a:lnTo>
                  <a:pt x="380505" y="219685"/>
                </a:lnTo>
                <a:lnTo>
                  <a:pt x="570757" y="329527"/>
                </a:lnTo>
                <a:lnTo>
                  <a:pt x="570757" y="549212"/>
                </a:lnTo>
                <a:lnTo>
                  <a:pt x="380505" y="659054"/>
                </a:lnTo>
                <a:lnTo>
                  <a:pt x="190252" y="549212"/>
                </a:lnTo>
                <a:lnTo>
                  <a:pt x="190252" y="329527"/>
                </a:lnTo>
                <a:lnTo>
                  <a:pt x="380505" y="219685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0000" y="1847745"/>
            <a:ext cx="1522020" cy="1757477"/>
          </a:xfrm>
          <a:custGeom>
            <a:avLst/>
            <a:gdLst/>
            <a:ahLst/>
            <a:cxnLst/>
            <a:rect l="l" t="t" r="r" b="b"/>
            <a:pathLst>
              <a:path w="1522020" h="1757477">
                <a:moveTo>
                  <a:pt x="761010" y="0"/>
                </a:moveTo>
                <a:lnTo>
                  <a:pt x="0" y="439369"/>
                </a:lnTo>
                <a:lnTo>
                  <a:pt x="0" y="1318108"/>
                </a:lnTo>
                <a:lnTo>
                  <a:pt x="761010" y="1757477"/>
                </a:lnTo>
                <a:lnTo>
                  <a:pt x="1522020" y="1318108"/>
                </a:lnTo>
                <a:lnTo>
                  <a:pt x="1522020" y="439369"/>
                </a:lnTo>
                <a:lnTo>
                  <a:pt x="761010" y="0"/>
                </a:lnTo>
                <a:lnTo>
                  <a:pt x="761010" y="219685"/>
                </a:lnTo>
                <a:lnTo>
                  <a:pt x="1331767" y="549212"/>
                </a:lnTo>
                <a:lnTo>
                  <a:pt x="1331767" y="1208265"/>
                </a:lnTo>
                <a:lnTo>
                  <a:pt x="761010" y="1537792"/>
                </a:lnTo>
                <a:lnTo>
                  <a:pt x="190253" y="1208265"/>
                </a:lnTo>
                <a:lnTo>
                  <a:pt x="190253" y="549212"/>
                </a:lnTo>
                <a:lnTo>
                  <a:pt x="761010" y="219685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280757" y="2506799"/>
            <a:ext cx="380505" cy="439369"/>
          </a:xfrm>
          <a:custGeom>
            <a:avLst/>
            <a:gdLst/>
            <a:ahLst/>
            <a:cxnLst/>
            <a:rect l="l" t="t" r="r" b="b"/>
            <a:pathLst>
              <a:path w="380505" h="439369">
                <a:moveTo>
                  <a:pt x="190252" y="0"/>
                </a:moveTo>
                <a:lnTo>
                  <a:pt x="0" y="109842"/>
                </a:lnTo>
                <a:lnTo>
                  <a:pt x="0" y="329527"/>
                </a:lnTo>
                <a:lnTo>
                  <a:pt x="190252" y="439369"/>
                </a:lnTo>
                <a:lnTo>
                  <a:pt x="380505" y="329527"/>
                </a:lnTo>
                <a:lnTo>
                  <a:pt x="380505" y="109842"/>
                </a:lnTo>
                <a:lnTo>
                  <a:pt x="190252" y="0"/>
                </a:lnTo>
              </a:path>
            </a:pathLst>
          </a:cu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0505" y="2287114"/>
            <a:ext cx="761009" cy="878738"/>
          </a:xfrm>
          <a:custGeom>
            <a:avLst/>
            <a:gdLst/>
            <a:ahLst/>
            <a:cxnLst/>
            <a:rect l="l" t="t" r="r" b="b"/>
            <a:pathLst>
              <a:path w="761009" h="878738">
                <a:moveTo>
                  <a:pt x="380505" y="0"/>
                </a:moveTo>
                <a:lnTo>
                  <a:pt x="0" y="219685"/>
                </a:lnTo>
                <a:lnTo>
                  <a:pt x="0" y="659054"/>
                </a:lnTo>
                <a:lnTo>
                  <a:pt x="380505" y="878738"/>
                </a:lnTo>
                <a:lnTo>
                  <a:pt x="761009" y="659054"/>
                </a:lnTo>
                <a:lnTo>
                  <a:pt x="761009" y="219685"/>
                </a:lnTo>
                <a:lnTo>
                  <a:pt x="380505" y="0"/>
                </a:lnTo>
              </a:path>
            </a:pathLst>
          </a:cu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00253" y="2067430"/>
            <a:ext cx="1141514" cy="1318108"/>
          </a:xfrm>
          <a:custGeom>
            <a:avLst/>
            <a:gdLst/>
            <a:ahLst/>
            <a:cxnLst/>
            <a:rect l="l" t="t" r="r" b="b"/>
            <a:pathLst>
              <a:path w="1141514" h="1318108">
                <a:moveTo>
                  <a:pt x="570757" y="0"/>
                </a:moveTo>
                <a:lnTo>
                  <a:pt x="0" y="329527"/>
                </a:lnTo>
                <a:lnTo>
                  <a:pt x="0" y="988581"/>
                </a:lnTo>
                <a:lnTo>
                  <a:pt x="570757" y="1318108"/>
                </a:lnTo>
                <a:lnTo>
                  <a:pt x="1141514" y="988581"/>
                </a:lnTo>
                <a:lnTo>
                  <a:pt x="1141514" y="329527"/>
                </a:lnTo>
                <a:lnTo>
                  <a:pt x="570757" y="0"/>
                </a:lnTo>
              </a:path>
            </a:pathLst>
          </a:cu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0000" y="1847745"/>
            <a:ext cx="1522020" cy="1757477"/>
          </a:xfrm>
          <a:custGeom>
            <a:avLst/>
            <a:gdLst/>
            <a:ahLst/>
            <a:cxnLst/>
            <a:rect l="l" t="t" r="r" b="b"/>
            <a:pathLst>
              <a:path w="1522020" h="1757477">
                <a:moveTo>
                  <a:pt x="761010" y="0"/>
                </a:moveTo>
                <a:lnTo>
                  <a:pt x="0" y="439369"/>
                </a:lnTo>
                <a:lnTo>
                  <a:pt x="0" y="1318108"/>
                </a:lnTo>
                <a:lnTo>
                  <a:pt x="761010" y="1757477"/>
                </a:lnTo>
                <a:lnTo>
                  <a:pt x="1522020" y="1318108"/>
                </a:lnTo>
                <a:lnTo>
                  <a:pt x="1522020" y="439369"/>
                </a:lnTo>
                <a:lnTo>
                  <a:pt x="761010" y="0"/>
                </a:lnTo>
              </a:path>
            </a:pathLst>
          </a:cu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19747" y="1628061"/>
            <a:ext cx="1902525" cy="2196846"/>
          </a:xfrm>
          <a:custGeom>
            <a:avLst/>
            <a:gdLst/>
            <a:ahLst/>
            <a:cxnLst/>
            <a:rect l="l" t="t" r="r" b="b"/>
            <a:pathLst>
              <a:path w="1902525" h="2196846">
                <a:moveTo>
                  <a:pt x="951262" y="0"/>
                </a:moveTo>
                <a:lnTo>
                  <a:pt x="0" y="549212"/>
                </a:lnTo>
                <a:lnTo>
                  <a:pt x="0" y="1647635"/>
                </a:lnTo>
                <a:lnTo>
                  <a:pt x="951262" y="2196846"/>
                </a:lnTo>
                <a:lnTo>
                  <a:pt x="1902525" y="1647635"/>
                </a:lnTo>
                <a:lnTo>
                  <a:pt x="1902525" y="549212"/>
                </a:lnTo>
                <a:lnTo>
                  <a:pt x="951262" y="0"/>
                </a:lnTo>
              </a:path>
            </a:pathLst>
          </a:cu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6474582" y="1628061"/>
            <a:ext cx="0" cy="1098423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4523" y="1414462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数据本地化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5519747" y="2177272"/>
            <a:ext cx="951262" cy="54921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3974" y="206368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零网络传输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 flipH="1">
            <a:off x="5519747" y="2726484"/>
            <a:ext cx="951262" cy="54921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955" y="3269266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无服务器存储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6474582" y="2726484"/>
            <a:ext cx="0" cy="1098423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04523" y="3918490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抗批量泄露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6471010" y="2726484"/>
            <a:ext cx="951262" cy="54921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5072" y="3269266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用户自主控制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 flipV="1">
            <a:off x="6471010" y="2177272"/>
            <a:ext cx="951262" cy="54921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15072" y="206368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部署低成本</a:t>
            </a:r>
            <a:endParaRPr lang="en-US" sz="788" dirty="0"/>
          </a:p>
        </p:txBody>
      </p:sp>
      <p:sp>
        <p:nvSpPr>
          <p:cNvPr id="35" name="Shape 33"/>
          <p:cNvSpPr/>
          <p:nvPr/>
        </p:nvSpPr>
        <p:spPr>
          <a:xfrm>
            <a:off x="5519747" y="1628061"/>
            <a:ext cx="1902525" cy="2196846"/>
          </a:xfrm>
          <a:custGeom>
            <a:avLst/>
            <a:gdLst/>
            <a:ahLst/>
            <a:cxnLst/>
            <a:rect l="l" t="t" r="r" b="b"/>
            <a:pathLst>
              <a:path w="1902525" h="2196846">
                <a:moveTo>
                  <a:pt x="951262" y="0"/>
                </a:moveTo>
                <a:lnTo>
                  <a:pt x="0" y="549212"/>
                </a:lnTo>
                <a:lnTo>
                  <a:pt x="0" y="1647635"/>
                </a:lnTo>
                <a:lnTo>
                  <a:pt x="951262" y="2196846"/>
                </a:lnTo>
                <a:lnTo>
                  <a:pt x="1902525" y="1647635"/>
                </a:lnTo>
                <a:lnTo>
                  <a:pt x="1902525" y="549212"/>
                </a:lnTo>
                <a:lnTo>
                  <a:pt x="951262" y="0"/>
                </a:lnTo>
              </a:path>
            </a:pathLst>
          </a:cu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19747" y="1628061"/>
            <a:ext cx="1902525" cy="2196846"/>
          </a:xfrm>
          <a:custGeom>
            <a:avLst/>
            <a:gdLst/>
            <a:ahLst/>
            <a:cxnLst/>
            <a:rect l="l" t="t" r="r" b="b"/>
            <a:pathLst>
              <a:path w="1902525" h="2196846">
                <a:moveTo>
                  <a:pt x="951262" y="0"/>
                </a:moveTo>
                <a:lnTo>
                  <a:pt x="0" y="549212"/>
                </a:lnTo>
                <a:lnTo>
                  <a:pt x="0" y="1647635"/>
                </a:lnTo>
                <a:lnTo>
                  <a:pt x="951262" y="2196846"/>
                </a:lnTo>
                <a:lnTo>
                  <a:pt x="1902525" y="1647635"/>
                </a:lnTo>
                <a:lnTo>
                  <a:pt x="1902525" y="549212"/>
                </a:lnTo>
                <a:lnTo>
                  <a:pt x="951262" y="0"/>
                </a:lnTo>
                <a:close/>
              </a:path>
            </a:pathLst>
          </a:custGeom>
          <a:solidFill>
            <a:srgbClr val="14B8A6">
              <a:alpha val="196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80757" y="2396957"/>
            <a:ext cx="761009" cy="768896"/>
          </a:xfrm>
          <a:custGeom>
            <a:avLst/>
            <a:gdLst/>
            <a:ahLst/>
            <a:cxnLst/>
            <a:rect l="l" t="t" r="r" b="b"/>
            <a:pathLst>
              <a:path w="761009" h="768896">
                <a:moveTo>
                  <a:pt x="190252" y="109842"/>
                </a:moveTo>
                <a:lnTo>
                  <a:pt x="0" y="219685"/>
                </a:lnTo>
                <a:lnTo>
                  <a:pt x="0" y="439369"/>
                </a:lnTo>
                <a:lnTo>
                  <a:pt x="190252" y="768896"/>
                </a:lnTo>
                <a:lnTo>
                  <a:pt x="570757" y="549211"/>
                </a:lnTo>
                <a:lnTo>
                  <a:pt x="761009" y="0"/>
                </a:lnTo>
                <a:lnTo>
                  <a:pt x="190252" y="109842"/>
                </a:lnTo>
              </a:path>
            </a:pathLst>
          </a:custGeom>
          <a:noFill/>
          <a:ln w="12700">
            <a:solidFill>
              <a:srgbClr val="0F4C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80757" y="2396957"/>
            <a:ext cx="761009" cy="768896"/>
          </a:xfrm>
          <a:custGeom>
            <a:avLst/>
            <a:gdLst/>
            <a:ahLst/>
            <a:cxnLst/>
            <a:rect l="l" t="t" r="r" b="b"/>
            <a:pathLst>
              <a:path w="761009" h="768896">
                <a:moveTo>
                  <a:pt x="190252" y="109842"/>
                </a:moveTo>
                <a:lnTo>
                  <a:pt x="0" y="219685"/>
                </a:lnTo>
                <a:lnTo>
                  <a:pt x="0" y="439369"/>
                </a:lnTo>
                <a:lnTo>
                  <a:pt x="190252" y="768896"/>
                </a:lnTo>
                <a:lnTo>
                  <a:pt x="570757" y="549211"/>
                </a:lnTo>
                <a:lnTo>
                  <a:pt x="761009" y="0"/>
                </a:lnTo>
                <a:lnTo>
                  <a:pt x="190252" y="109842"/>
                </a:lnTo>
                <a:close/>
              </a:path>
            </a:pathLst>
          </a:custGeom>
          <a:solidFill>
            <a:srgbClr val="0F4C81">
              <a:alpha val="98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49578" y="1606629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0" name="Shape 38"/>
          <p:cNvSpPr/>
          <p:nvPr/>
        </p:nvSpPr>
        <p:spPr>
          <a:xfrm>
            <a:off x="5498316" y="2155841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1" name="Shape 39"/>
          <p:cNvSpPr/>
          <p:nvPr/>
        </p:nvSpPr>
        <p:spPr>
          <a:xfrm>
            <a:off x="5498316" y="3254264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2" name="Shape 40"/>
          <p:cNvSpPr/>
          <p:nvPr/>
        </p:nvSpPr>
        <p:spPr>
          <a:xfrm>
            <a:off x="6449578" y="3803475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3" name="Shape 41"/>
          <p:cNvSpPr/>
          <p:nvPr/>
        </p:nvSpPr>
        <p:spPr>
          <a:xfrm>
            <a:off x="7400841" y="3254264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4" name="Shape 42"/>
          <p:cNvSpPr/>
          <p:nvPr/>
        </p:nvSpPr>
        <p:spPr>
          <a:xfrm>
            <a:off x="7400841" y="2155841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5" name="Shape 43"/>
          <p:cNvSpPr/>
          <p:nvPr/>
        </p:nvSpPr>
        <p:spPr>
          <a:xfrm>
            <a:off x="6449578" y="2485368"/>
            <a:ext cx="42863" cy="42863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46" name="Shape 44"/>
          <p:cNvSpPr/>
          <p:nvPr/>
        </p:nvSpPr>
        <p:spPr>
          <a:xfrm>
            <a:off x="6259326" y="2595210"/>
            <a:ext cx="42863" cy="42863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47" name="Shape 45"/>
          <p:cNvSpPr/>
          <p:nvPr/>
        </p:nvSpPr>
        <p:spPr>
          <a:xfrm>
            <a:off x="6259326" y="2814895"/>
            <a:ext cx="42863" cy="42863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48" name="Shape 46"/>
          <p:cNvSpPr/>
          <p:nvPr/>
        </p:nvSpPr>
        <p:spPr>
          <a:xfrm>
            <a:off x="6449578" y="3144422"/>
            <a:ext cx="42863" cy="42863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49" name="Shape 47"/>
          <p:cNvSpPr/>
          <p:nvPr/>
        </p:nvSpPr>
        <p:spPr>
          <a:xfrm>
            <a:off x="6830083" y="2924737"/>
            <a:ext cx="42863" cy="42863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50" name="Shape 48"/>
          <p:cNvSpPr/>
          <p:nvPr/>
        </p:nvSpPr>
        <p:spPr>
          <a:xfrm>
            <a:off x="7020335" y="2375525"/>
            <a:ext cx="42863" cy="42863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51" name="Shape 49"/>
          <p:cNvSpPr/>
          <p:nvPr/>
        </p:nvSpPr>
        <p:spPr>
          <a:xfrm>
            <a:off x="5624475" y="4454128"/>
            <a:ext cx="1693069" cy="171450"/>
          </a:xfrm>
          <a:custGeom>
            <a:avLst/>
            <a:gdLst/>
            <a:ahLst/>
            <a:cxnLst/>
            <a:rect l="l" t="t" r="r" b="b"/>
            <a:pathLst>
              <a:path w="1693069" h="171450">
                <a:moveTo>
                  <a:pt x="0" y="0"/>
                </a:moveTo>
                <a:lnTo>
                  <a:pt x="1693069" y="0"/>
                </a:lnTo>
                <a:lnTo>
                  <a:pt x="1693069" y="171450"/>
                </a:lnTo>
                <a:lnTo>
                  <a:pt x="0" y="171450"/>
                </a:lnTo>
                <a:close/>
              </a:path>
            </a:pathLst>
          </a:custGeom>
          <a:noFill/>
          <a:ln/>
        </p:spPr>
      </p:sp>
      <p:sp>
        <p:nvSpPr>
          <p:cNvPr id="52" name="Shape 50"/>
          <p:cNvSpPr/>
          <p:nvPr/>
        </p:nvSpPr>
        <p:spPr>
          <a:xfrm>
            <a:off x="5660194" y="4489847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14B8A6"/>
          </a:solidFill>
          <a:ln/>
        </p:spPr>
      </p:sp>
      <p:sp>
        <p:nvSpPr>
          <p:cNvPr id="53" name="Text 51"/>
          <p:cNvSpPr/>
          <p:nvPr/>
        </p:nvSpPr>
        <p:spPr>
          <a:xfrm>
            <a:off x="5874507" y="447984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纯前端架构</a:t>
            </a:r>
            <a:endParaRPr lang="en-US" sz="788" dirty="0"/>
          </a:p>
        </p:txBody>
      </p:sp>
      <p:sp>
        <p:nvSpPr>
          <p:cNvPr id="54" name="Shape 52"/>
          <p:cNvSpPr/>
          <p:nvPr/>
        </p:nvSpPr>
        <p:spPr>
          <a:xfrm>
            <a:off x="5660194" y="4489847"/>
            <a:ext cx="678656" cy="100013"/>
          </a:xfrm>
          <a:custGeom>
            <a:avLst/>
            <a:gdLst/>
            <a:ahLst/>
            <a:cxnLst/>
            <a:rect l="l" t="t" r="r" b="b"/>
            <a:pathLst>
              <a:path w="678656" h="100013">
                <a:moveTo>
                  <a:pt x="0" y="0"/>
                </a:moveTo>
                <a:lnTo>
                  <a:pt x="678656" y="0"/>
                </a:lnTo>
                <a:lnTo>
                  <a:pt x="678656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55" name="Shape 53"/>
          <p:cNvSpPr/>
          <p:nvPr/>
        </p:nvSpPr>
        <p:spPr>
          <a:xfrm>
            <a:off x="6510300" y="4489847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56" name="Text 54"/>
          <p:cNvSpPr/>
          <p:nvPr/>
        </p:nvSpPr>
        <p:spPr>
          <a:xfrm>
            <a:off x="6724613" y="4479846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传统后端架构</a:t>
            </a:r>
            <a:endParaRPr lang="en-US" sz="788" dirty="0"/>
          </a:p>
        </p:txBody>
      </p:sp>
      <p:sp>
        <p:nvSpPr>
          <p:cNvPr id="57" name="Shape 55"/>
          <p:cNvSpPr/>
          <p:nvPr/>
        </p:nvSpPr>
        <p:spPr>
          <a:xfrm>
            <a:off x="6510300" y="4489847"/>
            <a:ext cx="771525" cy="100013"/>
          </a:xfrm>
          <a:custGeom>
            <a:avLst/>
            <a:gdLst/>
            <a:ahLst/>
            <a:cxnLst/>
            <a:rect l="l" t="t" r="r" b="b"/>
            <a:pathLst>
              <a:path w="771525" h="100013">
                <a:moveTo>
                  <a:pt x="0" y="0"/>
                </a:moveTo>
                <a:lnTo>
                  <a:pt x="771525" y="0"/>
                </a:lnTo>
                <a:lnTo>
                  <a:pt x="771525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58" name="Shape 56"/>
          <p:cNvSpPr/>
          <p:nvPr/>
        </p:nvSpPr>
        <p:spPr>
          <a:xfrm>
            <a:off x="400050" y="4736306"/>
            <a:ext cx="8343900" cy="207169"/>
          </a:xfrm>
          <a:prstGeom prst="rect">
            <a:avLst/>
          </a:prstGeom>
          <a:ln/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50" y="4736306"/>
            <a:ext cx="8343900" cy="207169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401278" y="255389"/>
            <a:ext cx="4879181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PRIVACY · 数据存储与隐私合规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01278" y="451842"/>
            <a:ext cx="4879181" cy="2714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无后端设计与 IndexedDB 存储实现物理级隐私隔离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678656" y="984052"/>
            <a:ext cx="642938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无后端服务器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549455" y="1188653"/>
            <a:ext cx="3271838" cy="3214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全程零网络请求，眼底图像与推理结果不离开浏览器，从物理层面切断数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据外泄路径。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679605" y="1985851"/>
            <a:ext cx="1021556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IndexedDB 本地存储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549455" y="2190452"/>
            <a:ext cx="3271838" cy="3214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浏览器原生结构化存储，单库可用容量达数百 MB，支持病历与筛查记录本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地持久化。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678656" y="2987650"/>
            <a:ext cx="750094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物理级隐私隔离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549455" y="3192252"/>
            <a:ext cx="3271838" cy="3214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无服务器即无聚合数据库，不存在批量泄露面；单设备数据相互隔离，符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合数据最小化原则。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678656" y="3989450"/>
            <a:ext cx="642938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用户自主控制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549455" y="4194051"/>
            <a:ext cx="3271838" cy="3214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数据删除即物理消失，用户对筛查记录拥有完整知情权与销毁权，无需向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第三方申请。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4198181" y="862608"/>
            <a:ext cx="1928813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隐私隔离能力对比 · 纯前端 vs 传统后端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8400883" y="880467"/>
            <a:ext cx="3429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满分 5 分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399269" y="4814888"/>
            <a:ext cx="3393281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数据存储：浏览器 IndexedDB · 推理引擎：onnxruntime-web · 架构：纯前端零服务器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7972425" y="4814888"/>
            <a:ext cx="7715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物理级隐私隔离方案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1113867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1641444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" y="2169077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" y="2696710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" y="3224343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" y="3751976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" y="4279553"/>
            <a:ext cx="4114800" cy="471488"/>
          </a:xfrm>
          <a:prstGeom prst="roundRect">
            <a:avLst>
              <a:gd name="adj" fmla="val 5877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9206" y="2725341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9206" y="2496741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9206" y="2275284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9206" y="2046684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9206" y="1825228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9206" y="1596628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9206" y="1375172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9206" y="2725341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9206" y="2389584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9206" y="2046684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9206" y="1710928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9206" y="1375172"/>
            <a:ext cx="3293269" cy="0"/>
          </a:xfrm>
          <a:prstGeom prst="line">
            <a:avLst/>
          </a:prstGeom>
          <a:noFill/>
          <a:ln w="6350">
            <a:solidFill>
              <a:srgbClr val="E0E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7710" y="1165146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体积(KB)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7830979" y="1165146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耗时(ms)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5079206" y="2725341"/>
            <a:ext cx="3293269" cy="0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82778" y="2721769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4309" y="2721769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5841" y="2721769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54516" y="2721769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76047" y="2721769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9157" y="2661761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4389120" y="243673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4389120" y="221170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400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4389120" y="198667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4389120" y="1761649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800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4089082" y="1536621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1,000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4089082" y="1311593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1,200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8429625" y="2661761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8429625" y="2324219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</a:t>
            </a:r>
            <a:endParaRPr lang="en-US" sz="788" dirty="0"/>
          </a:p>
        </p:txBody>
      </p:sp>
      <p:sp>
        <p:nvSpPr>
          <p:cNvPr id="38" name="Text 36"/>
          <p:cNvSpPr/>
          <p:nvPr/>
        </p:nvSpPr>
        <p:spPr>
          <a:xfrm>
            <a:off x="8429625" y="198667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1,000</a:t>
            </a:r>
            <a:endParaRPr lang="en-US" sz="788" dirty="0"/>
          </a:p>
        </p:txBody>
      </p:sp>
      <p:sp>
        <p:nvSpPr>
          <p:cNvPr id="39" name="Text 37"/>
          <p:cNvSpPr/>
          <p:nvPr/>
        </p:nvSpPr>
        <p:spPr>
          <a:xfrm>
            <a:off x="8429625" y="1649135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1,500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8429625" y="1311593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2,000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4874359" y="2758202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pdf-lib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5847695" y="2758202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jsPDF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5770900" y="2758202"/>
            <a:ext cx="27331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html2canvas+jsPDF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7344311" y="2758202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E7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pdfmake</a:t>
            </a:r>
            <a:endParaRPr lang="en-US" sz="788" dirty="0"/>
          </a:p>
        </p:txBody>
      </p:sp>
      <p:sp>
        <p:nvSpPr>
          <p:cNvPr id="45" name="Shape 43"/>
          <p:cNvSpPr/>
          <p:nvPr/>
        </p:nvSpPr>
        <p:spPr>
          <a:xfrm>
            <a:off x="5190354" y="2271713"/>
            <a:ext cx="273191" cy="450056"/>
          </a:xfrm>
          <a:custGeom>
            <a:avLst/>
            <a:gdLst/>
            <a:ahLst/>
            <a:cxnLst/>
            <a:rect l="l" t="t" r="r" b="b"/>
            <a:pathLst>
              <a:path w="273191" h="450056">
                <a:moveTo>
                  <a:pt x="0" y="450056"/>
                </a:moveTo>
                <a:lnTo>
                  <a:pt x="273191" y="450056"/>
                </a:lnTo>
                <a:lnTo>
                  <a:pt x="273191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46" name="Shape 44"/>
          <p:cNvSpPr/>
          <p:nvPr/>
        </p:nvSpPr>
        <p:spPr>
          <a:xfrm>
            <a:off x="6013672" y="2327970"/>
            <a:ext cx="273191" cy="393799"/>
          </a:xfrm>
          <a:custGeom>
            <a:avLst/>
            <a:gdLst/>
            <a:ahLst/>
            <a:cxnLst/>
            <a:rect l="l" t="t" r="r" b="b"/>
            <a:pathLst>
              <a:path w="273191" h="393799">
                <a:moveTo>
                  <a:pt x="0" y="393799"/>
                </a:moveTo>
                <a:lnTo>
                  <a:pt x="273191" y="393799"/>
                </a:lnTo>
                <a:lnTo>
                  <a:pt x="273191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47" name="Shape 45"/>
          <p:cNvSpPr/>
          <p:nvPr/>
        </p:nvSpPr>
        <p:spPr>
          <a:xfrm>
            <a:off x="6836989" y="2159198"/>
            <a:ext cx="273191" cy="562570"/>
          </a:xfrm>
          <a:custGeom>
            <a:avLst/>
            <a:gdLst/>
            <a:ahLst/>
            <a:cxnLst/>
            <a:rect l="l" t="t" r="r" b="b"/>
            <a:pathLst>
              <a:path w="273191" h="562570">
                <a:moveTo>
                  <a:pt x="0" y="562570"/>
                </a:moveTo>
                <a:lnTo>
                  <a:pt x="273191" y="562570"/>
                </a:lnTo>
                <a:lnTo>
                  <a:pt x="273191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48" name="Shape 46"/>
          <p:cNvSpPr/>
          <p:nvPr/>
        </p:nvSpPr>
        <p:spPr>
          <a:xfrm>
            <a:off x="7660306" y="1371600"/>
            <a:ext cx="273191" cy="1350169"/>
          </a:xfrm>
          <a:custGeom>
            <a:avLst/>
            <a:gdLst/>
            <a:ahLst/>
            <a:cxnLst/>
            <a:rect l="l" t="t" r="r" b="b"/>
            <a:pathLst>
              <a:path w="273191" h="1350169">
                <a:moveTo>
                  <a:pt x="0" y="1350169"/>
                </a:moveTo>
                <a:lnTo>
                  <a:pt x="273191" y="1350169"/>
                </a:lnTo>
                <a:lnTo>
                  <a:pt x="273191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49" name="Shape 47"/>
          <p:cNvSpPr/>
          <p:nvPr/>
        </p:nvSpPr>
        <p:spPr>
          <a:xfrm>
            <a:off x="5518184" y="2316718"/>
            <a:ext cx="273191" cy="405051"/>
          </a:xfrm>
          <a:custGeom>
            <a:avLst/>
            <a:gdLst/>
            <a:ahLst/>
            <a:cxnLst/>
            <a:rect l="l" t="t" r="r" b="b"/>
            <a:pathLst>
              <a:path w="273191" h="405051">
                <a:moveTo>
                  <a:pt x="0" y="405051"/>
                </a:moveTo>
                <a:lnTo>
                  <a:pt x="273191" y="405051"/>
                </a:lnTo>
                <a:lnTo>
                  <a:pt x="273191" y="0"/>
                </a:lnTo>
                <a:lnTo>
                  <a:pt x="0" y="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50" name="Shape 48"/>
          <p:cNvSpPr/>
          <p:nvPr/>
        </p:nvSpPr>
        <p:spPr>
          <a:xfrm>
            <a:off x="6341501" y="2181701"/>
            <a:ext cx="273191" cy="540068"/>
          </a:xfrm>
          <a:custGeom>
            <a:avLst/>
            <a:gdLst/>
            <a:ahLst/>
            <a:cxnLst/>
            <a:rect l="l" t="t" r="r" b="b"/>
            <a:pathLst>
              <a:path w="273191" h="540068">
                <a:moveTo>
                  <a:pt x="0" y="540068"/>
                </a:moveTo>
                <a:lnTo>
                  <a:pt x="273191" y="540068"/>
                </a:lnTo>
                <a:lnTo>
                  <a:pt x="273191" y="0"/>
                </a:lnTo>
                <a:lnTo>
                  <a:pt x="0" y="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51" name="Shape 49"/>
          <p:cNvSpPr/>
          <p:nvPr/>
        </p:nvSpPr>
        <p:spPr>
          <a:xfrm>
            <a:off x="7164818" y="1371600"/>
            <a:ext cx="273191" cy="1350169"/>
          </a:xfrm>
          <a:custGeom>
            <a:avLst/>
            <a:gdLst/>
            <a:ahLst/>
            <a:cxnLst/>
            <a:rect l="l" t="t" r="r" b="b"/>
            <a:pathLst>
              <a:path w="273191" h="1350169">
                <a:moveTo>
                  <a:pt x="0" y="1350169"/>
                </a:moveTo>
                <a:lnTo>
                  <a:pt x="273191" y="1350169"/>
                </a:lnTo>
                <a:lnTo>
                  <a:pt x="273191" y="0"/>
                </a:lnTo>
                <a:lnTo>
                  <a:pt x="0" y="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52" name="Shape 50"/>
          <p:cNvSpPr/>
          <p:nvPr/>
        </p:nvSpPr>
        <p:spPr>
          <a:xfrm>
            <a:off x="7988136" y="1911668"/>
            <a:ext cx="273191" cy="810101"/>
          </a:xfrm>
          <a:custGeom>
            <a:avLst/>
            <a:gdLst/>
            <a:ahLst/>
            <a:cxnLst/>
            <a:rect l="l" t="t" r="r" b="b"/>
            <a:pathLst>
              <a:path w="273191" h="810101">
                <a:moveTo>
                  <a:pt x="0" y="810101"/>
                </a:moveTo>
                <a:lnTo>
                  <a:pt x="273191" y="810101"/>
                </a:lnTo>
                <a:lnTo>
                  <a:pt x="273191" y="0"/>
                </a:lnTo>
                <a:lnTo>
                  <a:pt x="0" y="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53" name="Shape 51"/>
          <p:cNvSpPr/>
          <p:nvPr/>
        </p:nvSpPr>
        <p:spPr>
          <a:xfrm>
            <a:off x="5986546" y="1121569"/>
            <a:ext cx="1514308" cy="171450"/>
          </a:xfrm>
          <a:custGeom>
            <a:avLst/>
            <a:gdLst/>
            <a:ahLst/>
            <a:cxnLst/>
            <a:rect l="l" t="t" r="r" b="b"/>
            <a:pathLst>
              <a:path w="1514308" h="171450">
                <a:moveTo>
                  <a:pt x="0" y="0"/>
                </a:moveTo>
                <a:lnTo>
                  <a:pt x="1514308" y="0"/>
                </a:lnTo>
                <a:lnTo>
                  <a:pt x="1514308" y="171450"/>
                </a:lnTo>
                <a:lnTo>
                  <a:pt x="0" y="171450"/>
                </a:lnTo>
                <a:close/>
              </a:path>
            </a:pathLst>
          </a:custGeom>
          <a:noFill/>
          <a:ln/>
        </p:spPr>
      </p:sp>
      <p:sp>
        <p:nvSpPr>
          <p:cNvPr id="54" name="Shape 52"/>
          <p:cNvSpPr/>
          <p:nvPr/>
        </p:nvSpPr>
        <p:spPr>
          <a:xfrm>
            <a:off x="6022265" y="1157288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55" name="Text 53"/>
          <p:cNvSpPr/>
          <p:nvPr/>
        </p:nvSpPr>
        <p:spPr>
          <a:xfrm>
            <a:off x="6236577" y="1147286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库体积(KB)</a:t>
            </a:r>
            <a:endParaRPr lang="en-US" sz="788" dirty="0"/>
          </a:p>
        </p:txBody>
      </p:sp>
      <p:sp>
        <p:nvSpPr>
          <p:cNvPr id="56" name="Shape 54"/>
          <p:cNvSpPr/>
          <p:nvPr/>
        </p:nvSpPr>
        <p:spPr>
          <a:xfrm>
            <a:off x="6022265" y="1157288"/>
            <a:ext cx="636952" cy="100013"/>
          </a:xfrm>
          <a:custGeom>
            <a:avLst/>
            <a:gdLst/>
            <a:ahLst/>
            <a:cxnLst/>
            <a:rect l="l" t="t" r="r" b="b"/>
            <a:pathLst>
              <a:path w="636952" h="100013">
                <a:moveTo>
                  <a:pt x="0" y="0"/>
                </a:moveTo>
                <a:lnTo>
                  <a:pt x="636952" y="0"/>
                </a:lnTo>
                <a:lnTo>
                  <a:pt x="636952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57" name="Shape 55"/>
          <p:cNvSpPr/>
          <p:nvPr/>
        </p:nvSpPr>
        <p:spPr>
          <a:xfrm>
            <a:off x="6730654" y="1157288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14B8A6"/>
          </a:solidFill>
          <a:ln/>
        </p:spPr>
      </p:sp>
      <p:sp>
        <p:nvSpPr>
          <p:cNvPr id="58" name="Text 56"/>
          <p:cNvSpPr/>
          <p:nvPr/>
        </p:nvSpPr>
        <p:spPr>
          <a:xfrm>
            <a:off x="6944967" y="1147286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生成耗时(ms)</a:t>
            </a:r>
            <a:endParaRPr lang="en-US" sz="788" dirty="0"/>
          </a:p>
        </p:txBody>
      </p:sp>
      <p:sp>
        <p:nvSpPr>
          <p:cNvPr id="59" name="Shape 57"/>
          <p:cNvSpPr/>
          <p:nvPr/>
        </p:nvSpPr>
        <p:spPr>
          <a:xfrm>
            <a:off x="6730654" y="1157288"/>
            <a:ext cx="734481" cy="100013"/>
          </a:xfrm>
          <a:custGeom>
            <a:avLst/>
            <a:gdLst/>
            <a:ahLst/>
            <a:cxnLst/>
            <a:rect l="l" t="t" r="r" b="b"/>
            <a:pathLst>
              <a:path w="734481" h="100013">
                <a:moveTo>
                  <a:pt x="0" y="0"/>
                </a:moveTo>
                <a:lnTo>
                  <a:pt x="734481" y="0"/>
                </a:lnTo>
                <a:lnTo>
                  <a:pt x="734481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60" name="Shape 58"/>
          <p:cNvSpPr/>
          <p:nvPr/>
        </p:nvSpPr>
        <p:spPr>
          <a:xfrm>
            <a:off x="4686300" y="3087551"/>
            <a:ext cx="4114800" cy="1664494"/>
          </a:xfrm>
          <a:prstGeom prst="roundRect">
            <a:avLst>
              <a:gd name="adj" fmla="val 2829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pic>
        <p:nvPicPr>
          <p:cNvPr id="6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342900" y="257175"/>
            <a:ext cx="8458200" cy="2857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前端生成规范 PDF 筛查报告满足基层输出需求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342900" y="598289"/>
            <a:ext cx="8458200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纯浏览器端生成矢量 PDF 报告，无需后端渲染服务，满足基层筛查输出与归档需求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342900" y="844748"/>
            <a:ext cx="4114800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规范筛查报告结构（7 要素）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464344" y="1263886"/>
            <a:ext cx="171450" cy="171450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720291" y="1278173"/>
            <a:ext cx="1764363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报告头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：机构名 · 报告编号 · 生成时间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464344" y="1791407"/>
            <a:ext cx="171450" cy="171450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720291" y="1805694"/>
            <a:ext cx="1567482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患者信息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：匿名编号 · 性别 · 年龄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464344" y="2319040"/>
            <a:ext cx="171450" cy="171450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721519" y="2333327"/>
            <a:ext cx="1181291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眼底图像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：缩略图嵌入报告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64344" y="2846673"/>
            <a:ext cx="171450" cy="171450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720514" y="2860960"/>
            <a:ext cx="1635633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结果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：四病种概率 + 阴性/阳性判定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464344" y="3374306"/>
            <a:ext cx="171450" cy="171450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721909" y="3388593"/>
            <a:ext cx="1317593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筛查建议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：分级随访/转诊建议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464344" y="3901939"/>
            <a:ext cx="171450" cy="171450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720179" y="3916226"/>
            <a:ext cx="119643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免责声明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 辅助筛查提示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464344" y="4429571"/>
            <a:ext cx="171450" cy="171450"/>
          </a:xfrm>
          <a:prstGeom prst="ellipse">
            <a:avLst/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20905" y="4443859"/>
            <a:ext cx="1325166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签章区</a:t>
            </a:r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：机构电子签 · 时间戳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4686300" y="844748"/>
            <a:ext cx="4114800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 PDF 库选型对比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4836319" y="3208660"/>
            <a:ext cx="3814763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选型结论：pdf-lib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4836319" y="3426544"/>
            <a:ext cx="3814763" cy="8715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矢量输出，PPTX 导出清晰可缩放</a:t>
            </a:r>
            <a:endParaRPr lang="en-US" sz="700" dirty="0"/>
          </a:p>
          <a:p>
            <a:pPr algn="l" indent="0" marL="0">
              <a:spcBef>
                <a:spcPts val="338"/>
              </a:spcBef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支持中文字体嵌入，报告无乱码</a:t>
            </a:r>
            <a:endParaRPr lang="en-US" sz="700" dirty="0"/>
          </a:p>
          <a:p>
            <a:pPr algn="l" indent="0" marL="0">
              <a:spcBef>
                <a:spcPts val="338"/>
              </a:spcBef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库体积 ~400KB，生成耗时 ~600ms</a:t>
            </a:r>
            <a:endParaRPr lang="en-US" sz="700" dirty="0"/>
          </a:p>
          <a:p>
            <a:pPr algn="l" indent="0" marL="0">
              <a:spcBef>
                <a:spcPts val="338"/>
              </a:spcBef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纯 JS 实现，无浏览器原生 API 依赖</a:t>
            </a:r>
            <a:endParaRPr lang="en-US" sz="700" dirty="0"/>
          </a:p>
          <a:p>
            <a:pPr algn="l" indent="0" marL="0">
              <a:spcBef>
                <a:spcPts val="338"/>
              </a:spcBef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纯前端生成，报告保存本地，满足患者隐私合规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836319"/>
            <a:ext cx="9144000" cy="307181"/>
          </a:xfrm>
          <a:prstGeom prst="rect">
            <a:avLst/>
          </a:prstGeom>
          <a:ln/>
        </p:spPr>
        <p:txBody>
          <a:bodyPr wrap="none" lIns="291465" tIns="72866" rIns="29146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技术栈：pdf-lib + Vue 3 · 报告生成全程浏览器端完成 · 数据来源：各库官方文档基准测试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48580"/>
            <a:ext cx="28575" cy="200025"/>
          </a:xfrm>
          <a:prstGeom prst="roundRect">
            <a:avLst>
              <a:gd name="adj" fmla="val 400000"/>
            </a:avLst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" y="790054"/>
            <a:ext cx="2028825" cy="714375"/>
          </a:xfrm>
          <a:prstGeom prst="roundRect">
            <a:avLst>
              <a:gd name="adj" fmla="val 1536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486025" y="790054"/>
            <a:ext cx="2028825" cy="714375"/>
          </a:xfrm>
          <a:prstGeom prst="roundRect">
            <a:avLst>
              <a:gd name="adj" fmla="val 1536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29150" y="790054"/>
            <a:ext cx="2028825" cy="714375"/>
          </a:xfrm>
          <a:prstGeom prst="roundRect">
            <a:avLst>
              <a:gd name="adj" fmla="val 1536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72275" y="790054"/>
            <a:ext cx="2028825" cy="714375"/>
          </a:xfrm>
          <a:prstGeom prst="roundRect">
            <a:avLst>
              <a:gd name="adj" fmla="val 1536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2900" y="1632682"/>
            <a:ext cx="8458200" cy="3150394"/>
          </a:xfrm>
          <a:prstGeom prst="roundRect">
            <a:avLst>
              <a:gd name="adj" fmla="val 790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  <a:effectLst>
            <a:outerShdw sx="100000" sy="100000" kx="0" ky="0" algn="bl" rotWithShape="0" blurRad="142875" dist="42863" dir="5400000">
              <a:srgbClr val="0F4C8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1531" y="4447654"/>
            <a:ext cx="76723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1531" y="4004742"/>
            <a:ext cx="76723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1531" y="3561829"/>
            <a:ext cx="76723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1531" y="3118917"/>
            <a:ext cx="76723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1531" y="2676004"/>
            <a:ext cx="76723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531" y="2233092"/>
            <a:ext cx="76723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531" y="4447654"/>
            <a:ext cx="76723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483" y="438407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431483" y="394116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431483" y="349825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431483" y="305533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431483" y="261242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431483" y="216951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1122283" y="448408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部署便捷性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2656761" y="448408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运维简单度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4191238" y="448408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隐私安全度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5725716" y="448408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成本经济性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7260193" y="448408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推理实时性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1384459" y="3558257"/>
            <a:ext cx="185738" cy="885825"/>
          </a:xfrm>
          <a:custGeom>
            <a:avLst/>
            <a:gdLst/>
            <a:ahLst/>
            <a:cxnLst/>
            <a:rect l="l" t="t" r="r" b="b"/>
            <a:pathLst>
              <a:path w="185738" h="885825">
                <a:moveTo>
                  <a:pt x="0" y="885825"/>
                </a:moveTo>
                <a:lnTo>
                  <a:pt x="185738" y="885825"/>
                </a:lnTo>
                <a:lnTo>
                  <a:pt x="185738" y="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2918936" y="3558257"/>
            <a:ext cx="185738" cy="885825"/>
          </a:xfrm>
          <a:custGeom>
            <a:avLst/>
            <a:gdLst/>
            <a:ahLst/>
            <a:cxnLst/>
            <a:rect l="l" t="t" r="r" b="b"/>
            <a:pathLst>
              <a:path w="185738" h="885825">
                <a:moveTo>
                  <a:pt x="0" y="885825"/>
                </a:moveTo>
                <a:lnTo>
                  <a:pt x="185738" y="885825"/>
                </a:lnTo>
                <a:lnTo>
                  <a:pt x="185738" y="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4453414" y="3115345"/>
            <a:ext cx="185738" cy="1328738"/>
          </a:xfrm>
          <a:custGeom>
            <a:avLst/>
            <a:gdLst/>
            <a:ahLst/>
            <a:cxnLst/>
            <a:rect l="l" t="t" r="r" b="b"/>
            <a:pathLst>
              <a:path w="185738" h="1328738">
                <a:moveTo>
                  <a:pt x="0" y="1328738"/>
                </a:moveTo>
                <a:lnTo>
                  <a:pt x="185738" y="1328738"/>
                </a:lnTo>
                <a:lnTo>
                  <a:pt x="185738" y="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5987891" y="3558257"/>
            <a:ext cx="185738" cy="885825"/>
          </a:xfrm>
          <a:custGeom>
            <a:avLst/>
            <a:gdLst/>
            <a:ahLst/>
            <a:cxnLst/>
            <a:rect l="l" t="t" r="r" b="b"/>
            <a:pathLst>
              <a:path w="185738" h="885825">
                <a:moveTo>
                  <a:pt x="0" y="885825"/>
                </a:moveTo>
                <a:lnTo>
                  <a:pt x="185738" y="885825"/>
                </a:lnTo>
                <a:lnTo>
                  <a:pt x="185738" y="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30" name="Shape 28"/>
          <p:cNvSpPr/>
          <p:nvPr/>
        </p:nvSpPr>
        <p:spPr>
          <a:xfrm>
            <a:off x="7522369" y="3115345"/>
            <a:ext cx="185738" cy="1328738"/>
          </a:xfrm>
          <a:custGeom>
            <a:avLst/>
            <a:gdLst/>
            <a:ahLst/>
            <a:cxnLst/>
            <a:rect l="l" t="t" r="r" b="b"/>
            <a:pathLst>
              <a:path w="185738" h="1328738">
                <a:moveTo>
                  <a:pt x="0" y="1328738"/>
                </a:moveTo>
                <a:lnTo>
                  <a:pt x="185738" y="1328738"/>
                </a:lnTo>
                <a:lnTo>
                  <a:pt x="185738" y="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31" name="Shape 29"/>
          <p:cNvSpPr/>
          <p:nvPr/>
        </p:nvSpPr>
        <p:spPr>
          <a:xfrm>
            <a:off x="1607344" y="2229520"/>
            <a:ext cx="185738" cy="2214563"/>
          </a:xfrm>
          <a:custGeom>
            <a:avLst/>
            <a:gdLst/>
            <a:ahLst/>
            <a:cxnLst/>
            <a:rect l="l" t="t" r="r" b="b"/>
            <a:pathLst>
              <a:path w="185738" h="2214563">
                <a:moveTo>
                  <a:pt x="0" y="2214563"/>
                </a:moveTo>
                <a:lnTo>
                  <a:pt x="185738" y="2214563"/>
                </a:lnTo>
                <a:lnTo>
                  <a:pt x="185738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32" name="Shape 30"/>
          <p:cNvSpPr/>
          <p:nvPr/>
        </p:nvSpPr>
        <p:spPr>
          <a:xfrm>
            <a:off x="3141821" y="2229520"/>
            <a:ext cx="185738" cy="2214563"/>
          </a:xfrm>
          <a:custGeom>
            <a:avLst/>
            <a:gdLst/>
            <a:ahLst/>
            <a:cxnLst/>
            <a:rect l="l" t="t" r="r" b="b"/>
            <a:pathLst>
              <a:path w="185738" h="2214563">
                <a:moveTo>
                  <a:pt x="0" y="2214563"/>
                </a:moveTo>
                <a:lnTo>
                  <a:pt x="185738" y="2214563"/>
                </a:lnTo>
                <a:lnTo>
                  <a:pt x="185738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33" name="Shape 31"/>
          <p:cNvSpPr/>
          <p:nvPr/>
        </p:nvSpPr>
        <p:spPr>
          <a:xfrm>
            <a:off x="4676299" y="2229520"/>
            <a:ext cx="185738" cy="2214563"/>
          </a:xfrm>
          <a:custGeom>
            <a:avLst/>
            <a:gdLst/>
            <a:ahLst/>
            <a:cxnLst/>
            <a:rect l="l" t="t" r="r" b="b"/>
            <a:pathLst>
              <a:path w="185738" h="2214563">
                <a:moveTo>
                  <a:pt x="0" y="2214563"/>
                </a:moveTo>
                <a:lnTo>
                  <a:pt x="185738" y="2214563"/>
                </a:lnTo>
                <a:lnTo>
                  <a:pt x="185738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0776" y="2229520"/>
            <a:ext cx="185738" cy="2214563"/>
          </a:xfrm>
          <a:custGeom>
            <a:avLst/>
            <a:gdLst/>
            <a:ahLst/>
            <a:cxnLst/>
            <a:rect l="l" t="t" r="r" b="b"/>
            <a:pathLst>
              <a:path w="185738" h="2214563">
                <a:moveTo>
                  <a:pt x="0" y="2214563"/>
                </a:moveTo>
                <a:lnTo>
                  <a:pt x="185738" y="2214563"/>
                </a:lnTo>
                <a:lnTo>
                  <a:pt x="185738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35" name="Shape 33"/>
          <p:cNvSpPr/>
          <p:nvPr/>
        </p:nvSpPr>
        <p:spPr>
          <a:xfrm>
            <a:off x="7745254" y="2672432"/>
            <a:ext cx="185738" cy="1771650"/>
          </a:xfrm>
          <a:custGeom>
            <a:avLst/>
            <a:gdLst/>
            <a:ahLst/>
            <a:cxnLst/>
            <a:rect l="l" t="t" r="r" b="b"/>
            <a:pathLst>
              <a:path w="185738" h="1771650">
                <a:moveTo>
                  <a:pt x="0" y="1771650"/>
                </a:moveTo>
                <a:lnTo>
                  <a:pt x="185738" y="1771650"/>
                </a:lnTo>
                <a:lnTo>
                  <a:pt x="185738" y="0"/>
                </a:lnTo>
                <a:lnTo>
                  <a:pt x="0" y="0"/>
                </a:lnTo>
                <a:close/>
              </a:path>
            </a:pathLst>
          </a:custGeom>
          <a:solidFill>
            <a:srgbClr val="0F4C81"/>
          </a:solidFill>
          <a:ln/>
        </p:spPr>
      </p:sp>
      <p:sp>
        <p:nvSpPr>
          <p:cNvPr id="36" name="Text 34"/>
          <p:cNvSpPr/>
          <p:nvPr/>
        </p:nvSpPr>
        <p:spPr>
          <a:xfrm>
            <a:off x="1310878" y="342324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2845356" y="342324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88" dirty="0"/>
          </a:p>
        </p:txBody>
      </p:sp>
      <p:sp>
        <p:nvSpPr>
          <p:cNvPr id="38" name="Text 36"/>
          <p:cNvSpPr/>
          <p:nvPr/>
        </p:nvSpPr>
        <p:spPr>
          <a:xfrm>
            <a:off x="4379833" y="2980328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88" dirty="0"/>
          </a:p>
        </p:txBody>
      </p:sp>
      <p:sp>
        <p:nvSpPr>
          <p:cNvPr id="39" name="Text 37"/>
          <p:cNvSpPr/>
          <p:nvPr/>
        </p:nvSpPr>
        <p:spPr>
          <a:xfrm>
            <a:off x="5914311" y="342324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7448788" y="2980328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1533763" y="209450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3068241" y="209450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4602718" y="209450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6137196" y="209450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7671673" y="253741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88" dirty="0"/>
          </a:p>
        </p:txBody>
      </p:sp>
      <p:sp>
        <p:nvSpPr>
          <p:cNvPr id="46" name="Shape 44"/>
          <p:cNvSpPr/>
          <p:nvPr/>
        </p:nvSpPr>
        <p:spPr>
          <a:xfrm>
            <a:off x="7065169" y="1972345"/>
            <a:ext cx="1528763" cy="157163"/>
          </a:xfrm>
          <a:custGeom>
            <a:avLst/>
            <a:gdLst/>
            <a:ahLst/>
            <a:cxnLst/>
            <a:rect l="l" t="t" r="r" b="b"/>
            <a:pathLst>
              <a:path w="1528763" h="157163">
                <a:moveTo>
                  <a:pt x="0" y="0"/>
                </a:moveTo>
                <a:lnTo>
                  <a:pt x="1528763" y="0"/>
                </a:lnTo>
                <a:lnTo>
                  <a:pt x="1528763" y="157163"/>
                </a:lnTo>
                <a:lnTo>
                  <a:pt x="0" y="157163"/>
                </a:lnTo>
                <a:close/>
              </a:path>
            </a:pathLst>
          </a:custGeom>
          <a:noFill/>
          <a:ln/>
        </p:spPr>
      </p:sp>
      <p:sp>
        <p:nvSpPr>
          <p:cNvPr id="47" name="Shape 45"/>
          <p:cNvSpPr/>
          <p:nvPr/>
        </p:nvSpPr>
        <p:spPr>
          <a:xfrm>
            <a:off x="7100888" y="2015207"/>
            <a:ext cx="100013" cy="71438"/>
          </a:xfrm>
          <a:custGeom>
            <a:avLst/>
            <a:gdLst/>
            <a:ahLst/>
            <a:cxnLst/>
            <a:rect l="l" t="t" r="r" b="b"/>
            <a:pathLst>
              <a:path w="100013" h="71438">
                <a:moveTo>
                  <a:pt x="17859" y="0"/>
                </a:moveTo>
                <a:lnTo>
                  <a:pt x="82153" y="0"/>
                </a:lnTo>
                <a:lnTo>
                  <a:pt x="83029" y="22"/>
                </a:lnTo>
                <a:lnTo>
                  <a:pt x="83904" y="86"/>
                </a:lnTo>
                <a:lnTo>
                  <a:pt x="84774" y="193"/>
                </a:lnTo>
                <a:lnTo>
                  <a:pt x="85637" y="343"/>
                </a:lnTo>
                <a:lnTo>
                  <a:pt x="86493" y="535"/>
                </a:lnTo>
                <a:lnTo>
                  <a:pt x="87337" y="769"/>
                </a:lnTo>
                <a:lnTo>
                  <a:pt x="88170" y="1044"/>
                </a:lnTo>
                <a:lnTo>
                  <a:pt x="88988" y="1359"/>
                </a:lnTo>
                <a:lnTo>
                  <a:pt x="89789" y="1715"/>
                </a:lnTo>
                <a:lnTo>
                  <a:pt x="90572" y="2109"/>
                </a:lnTo>
                <a:lnTo>
                  <a:pt x="91335" y="2541"/>
                </a:lnTo>
                <a:lnTo>
                  <a:pt x="92075" y="3010"/>
                </a:lnTo>
                <a:lnTo>
                  <a:pt x="92792" y="3515"/>
                </a:lnTo>
                <a:lnTo>
                  <a:pt x="93483" y="4054"/>
                </a:lnTo>
                <a:lnTo>
                  <a:pt x="94147" y="4626"/>
                </a:lnTo>
                <a:lnTo>
                  <a:pt x="94782" y="5231"/>
                </a:lnTo>
                <a:lnTo>
                  <a:pt x="95386" y="5866"/>
                </a:lnTo>
                <a:lnTo>
                  <a:pt x="95959" y="6530"/>
                </a:lnTo>
                <a:lnTo>
                  <a:pt x="96498" y="7221"/>
                </a:lnTo>
                <a:lnTo>
                  <a:pt x="97003" y="7937"/>
                </a:lnTo>
                <a:lnTo>
                  <a:pt x="97472" y="8678"/>
                </a:lnTo>
                <a:lnTo>
                  <a:pt x="97904" y="9441"/>
                </a:lnTo>
                <a:lnTo>
                  <a:pt x="98298" y="10224"/>
                </a:lnTo>
                <a:lnTo>
                  <a:pt x="98653" y="11025"/>
                </a:lnTo>
                <a:lnTo>
                  <a:pt x="98969" y="11843"/>
                </a:lnTo>
                <a:lnTo>
                  <a:pt x="99243" y="12675"/>
                </a:lnTo>
                <a:lnTo>
                  <a:pt x="99477" y="13520"/>
                </a:lnTo>
                <a:lnTo>
                  <a:pt x="99669" y="14375"/>
                </a:lnTo>
                <a:lnTo>
                  <a:pt x="99819" y="15239"/>
                </a:lnTo>
                <a:lnTo>
                  <a:pt x="99927" y="16109"/>
                </a:lnTo>
                <a:lnTo>
                  <a:pt x="99991" y="16983"/>
                </a:lnTo>
                <a:lnTo>
                  <a:pt x="100013" y="17859"/>
                </a:lnTo>
                <a:lnTo>
                  <a:pt x="100013" y="53578"/>
                </a:lnTo>
                <a:lnTo>
                  <a:pt x="99991" y="54454"/>
                </a:lnTo>
                <a:lnTo>
                  <a:pt x="99927" y="55329"/>
                </a:lnTo>
                <a:lnTo>
                  <a:pt x="99819" y="56199"/>
                </a:lnTo>
                <a:lnTo>
                  <a:pt x="99669" y="57062"/>
                </a:lnTo>
                <a:lnTo>
                  <a:pt x="99477" y="57918"/>
                </a:lnTo>
                <a:lnTo>
                  <a:pt x="99243" y="58762"/>
                </a:lnTo>
                <a:lnTo>
                  <a:pt x="98969" y="59595"/>
                </a:lnTo>
                <a:lnTo>
                  <a:pt x="98653" y="60413"/>
                </a:lnTo>
                <a:lnTo>
                  <a:pt x="98298" y="61214"/>
                </a:lnTo>
                <a:lnTo>
                  <a:pt x="97904" y="61997"/>
                </a:lnTo>
                <a:lnTo>
                  <a:pt x="97472" y="62760"/>
                </a:lnTo>
                <a:lnTo>
                  <a:pt x="97003" y="63500"/>
                </a:lnTo>
                <a:lnTo>
                  <a:pt x="96498" y="64217"/>
                </a:lnTo>
                <a:lnTo>
                  <a:pt x="95959" y="64908"/>
                </a:lnTo>
                <a:lnTo>
                  <a:pt x="95386" y="65572"/>
                </a:lnTo>
                <a:lnTo>
                  <a:pt x="94782" y="66207"/>
                </a:lnTo>
                <a:lnTo>
                  <a:pt x="94147" y="66811"/>
                </a:lnTo>
                <a:lnTo>
                  <a:pt x="93483" y="67384"/>
                </a:lnTo>
                <a:lnTo>
                  <a:pt x="92792" y="67923"/>
                </a:lnTo>
                <a:lnTo>
                  <a:pt x="92075" y="68428"/>
                </a:lnTo>
                <a:lnTo>
                  <a:pt x="91335" y="68897"/>
                </a:lnTo>
                <a:lnTo>
                  <a:pt x="90572" y="69329"/>
                </a:lnTo>
                <a:lnTo>
                  <a:pt x="89789" y="69723"/>
                </a:lnTo>
                <a:lnTo>
                  <a:pt x="88988" y="70078"/>
                </a:lnTo>
                <a:lnTo>
                  <a:pt x="88170" y="70394"/>
                </a:lnTo>
                <a:lnTo>
                  <a:pt x="87337" y="70668"/>
                </a:lnTo>
                <a:lnTo>
                  <a:pt x="86493" y="70902"/>
                </a:lnTo>
                <a:lnTo>
                  <a:pt x="85637" y="71094"/>
                </a:lnTo>
                <a:lnTo>
                  <a:pt x="84774" y="71244"/>
                </a:lnTo>
                <a:lnTo>
                  <a:pt x="83904" y="71352"/>
                </a:lnTo>
                <a:lnTo>
                  <a:pt x="83029" y="71416"/>
                </a:lnTo>
                <a:lnTo>
                  <a:pt x="82153" y="71438"/>
                </a:lnTo>
                <a:lnTo>
                  <a:pt x="17859" y="71438"/>
                </a:lnTo>
                <a:lnTo>
                  <a:pt x="16983" y="71416"/>
                </a:lnTo>
                <a:lnTo>
                  <a:pt x="16109" y="71352"/>
                </a:lnTo>
                <a:lnTo>
                  <a:pt x="15239" y="71244"/>
                </a:lnTo>
                <a:lnTo>
                  <a:pt x="14375" y="71094"/>
                </a:lnTo>
                <a:lnTo>
                  <a:pt x="13520" y="70902"/>
                </a:lnTo>
                <a:lnTo>
                  <a:pt x="12675" y="70668"/>
                </a:lnTo>
                <a:lnTo>
                  <a:pt x="11843" y="70394"/>
                </a:lnTo>
                <a:lnTo>
                  <a:pt x="11025" y="70078"/>
                </a:lnTo>
                <a:lnTo>
                  <a:pt x="10224" y="69723"/>
                </a:lnTo>
                <a:lnTo>
                  <a:pt x="9441" y="69329"/>
                </a:lnTo>
                <a:lnTo>
                  <a:pt x="8678" y="68897"/>
                </a:lnTo>
                <a:lnTo>
                  <a:pt x="7937" y="68428"/>
                </a:lnTo>
                <a:lnTo>
                  <a:pt x="7221" y="67923"/>
                </a:lnTo>
                <a:lnTo>
                  <a:pt x="6530" y="67384"/>
                </a:lnTo>
                <a:lnTo>
                  <a:pt x="5866" y="66811"/>
                </a:lnTo>
                <a:lnTo>
                  <a:pt x="5231" y="66207"/>
                </a:lnTo>
                <a:lnTo>
                  <a:pt x="4626" y="65572"/>
                </a:lnTo>
                <a:lnTo>
                  <a:pt x="4054" y="64908"/>
                </a:lnTo>
                <a:lnTo>
                  <a:pt x="3515" y="64217"/>
                </a:lnTo>
                <a:lnTo>
                  <a:pt x="3010" y="63500"/>
                </a:lnTo>
                <a:lnTo>
                  <a:pt x="2541" y="62760"/>
                </a:lnTo>
                <a:lnTo>
                  <a:pt x="2109" y="61997"/>
                </a:lnTo>
                <a:lnTo>
                  <a:pt x="1715" y="61214"/>
                </a:lnTo>
                <a:lnTo>
                  <a:pt x="1359" y="60413"/>
                </a:lnTo>
                <a:lnTo>
                  <a:pt x="1044" y="59595"/>
                </a:lnTo>
                <a:lnTo>
                  <a:pt x="769" y="58762"/>
                </a:lnTo>
                <a:lnTo>
                  <a:pt x="535" y="57918"/>
                </a:lnTo>
                <a:lnTo>
                  <a:pt x="343" y="57062"/>
                </a:lnTo>
                <a:lnTo>
                  <a:pt x="193" y="56199"/>
                </a:lnTo>
                <a:lnTo>
                  <a:pt x="86" y="55329"/>
                </a:lnTo>
                <a:lnTo>
                  <a:pt x="22" y="54454"/>
                </a:lnTo>
                <a:lnTo>
                  <a:pt x="0" y="53578"/>
                </a:lnTo>
                <a:lnTo>
                  <a:pt x="0" y="17859"/>
                </a:lnTo>
                <a:lnTo>
                  <a:pt x="22" y="16983"/>
                </a:lnTo>
                <a:lnTo>
                  <a:pt x="86" y="16109"/>
                </a:lnTo>
                <a:lnTo>
                  <a:pt x="193" y="15239"/>
                </a:lnTo>
                <a:lnTo>
                  <a:pt x="343" y="14375"/>
                </a:lnTo>
                <a:lnTo>
                  <a:pt x="535" y="13520"/>
                </a:lnTo>
                <a:lnTo>
                  <a:pt x="769" y="12675"/>
                </a:lnTo>
                <a:lnTo>
                  <a:pt x="1044" y="11843"/>
                </a:lnTo>
                <a:lnTo>
                  <a:pt x="1359" y="11025"/>
                </a:lnTo>
                <a:lnTo>
                  <a:pt x="1715" y="10224"/>
                </a:lnTo>
                <a:lnTo>
                  <a:pt x="2109" y="9441"/>
                </a:lnTo>
                <a:lnTo>
                  <a:pt x="2541" y="8678"/>
                </a:lnTo>
                <a:lnTo>
                  <a:pt x="3010" y="7937"/>
                </a:lnTo>
                <a:lnTo>
                  <a:pt x="3515" y="7221"/>
                </a:lnTo>
                <a:lnTo>
                  <a:pt x="4054" y="6530"/>
                </a:lnTo>
                <a:lnTo>
                  <a:pt x="4626" y="5866"/>
                </a:lnTo>
                <a:lnTo>
                  <a:pt x="5231" y="5231"/>
                </a:lnTo>
                <a:lnTo>
                  <a:pt x="5866" y="4626"/>
                </a:lnTo>
                <a:lnTo>
                  <a:pt x="6530" y="4054"/>
                </a:lnTo>
                <a:lnTo>
                  <a:pt x="7221" y="3515"/>
                </a:lnTo>
                <a:lnTo>
                  <a:pt x="7937" y="3010"/>
                </a:lnTo>
                <a:lnTo>
                  <a:pt x="8678" y="2541"/>
                </a:lnTo>
                <a:lnTo>
                  <a:pt x="9441" y="2109"/>
                </a:lnTo>
                <a:lnTo>
                  <a:pt x="10224" y="1715"/>
                </a:lnTo>
                <a:lnTo>
                  <a:pt x="11025" y="1359"/>
                </a:lnTo>
                <a:lnTo>
                  <a:pt x="11843" y="1044"/>
                </a:lnTo>
                <a:lnTo>
                  <a:pt x="12675" y="769"/>
                </a:lnTo>
                <a:lnTo>
                  <a:pt x="13520" y="535"/>
                </a:lnTo>
                <a:lnTo>
                  <a:pt x="14375" y="343"/>
                </a:lnTo>
                <a:lnTo>
                  <a:pt x="15239" y="193"/>
                </a:lnTo>
                <a:lnTo>
                  <a:pt x="16109" y="86"/>
                </a:lnTo>
                <a:lnTo>
                  <a:pt x="16983" y="22"/>
                </a:lnTo>
                <a:lnTo>
                  <a:pt x="17859" y="0"/>
                </a:lnTo>
              </a:path>
            </a:pathLst>
          </a:custGeom>
          <a:solidFill>
            <a:srgbClr val="94A3B8"/>
          </a:solidFill>
          <a:ln/>
        </p:spPr>
      </p:sp>
      <p:sp>
        <p:nvSpPr>
          <p:cNvPr id="48" name="Text 46"/>
          <p:cNvSpPr/>
          <p:nvPr/>
        </p:nvSpPr>
        <p:spPr>
          <a:xfrm>
            <a:off x="7236619" y="1990918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传统后端部署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7100888" y="2008063"/>
            <a:ext cx="650081" cy="85725"/>
          </a:xfrm>
          <a:custGeom>
            <a:avLst/>
            <a:gdLst/>
            <a:ahLst/>
            <a:cxnLst/>
            <a:rect l="l" t="t" r="r" b="b"/>
            <a:pathLst>
              <a:path w="650081" h="85725">
                <a:moveTo>
                  <a:pt x="0" y="0"/>
                </a:moveTo>
                <a:lnTo>
                  <a:pt x="650081" y="0"/>
                </a:lnTo>
                <a:lnTo>
                  <a:pt x="650081" y="85725"/>
                </a:lnTo>
                <a:lnTo>
                  <a:pt x="0" y="85725"/>
                </a:lnTo>
                <a:close/>
              </a:path>
            </a:pathLst>
          </a:custGeom>
          <a:noFill/>
          <a:ln/>
        </p:spPr>
      </p:sp>
      <p:sp>
        <p:nvSpPr>
          <p:cNvPr id="50" name="Shape 48"/>
          <p:cNvSpPr/>
          <p:nvPr/>
        </p:nvSpPr>
        <p:spPr>
          <a:xfrm>
            <a:off x="7822406" y="2015207"/>
            <a:ext cx="100013" cy="71438"/>
          </a:xfrm>
          <a:custGeom>
            <a:avLst/>
            <a:gdLst/>
            <a:ahLst/>
            <a:cxnLst/>
            <a:rect l="l" t="t" r="r" b="b"/>
            <a:pathLst>
              <a:path w="100013" h="71438">
                <a:moveTo>
                  <a:pt x="17859" y="0"/>
                </a:moveTo>
                <a:lnTo>
                  <a:pt x="82153" y="0"/>
                </a:lnTo>
                <a:lnTo>
                  <a:pt x="83029" y="22"/>
                </a:lnTo>
                <a:lnTo>
                  <a:pt x="83904" y="86"/>
                </a:lnTo>
                <a:lnTo>
                  <a:pt x="84774" y="193"/>
                </a:lnTo>
                <a:lnTo>
                  <a:pt x="85637" y="343"/>
                </a:lnTo>
                <a:lnTo>
                  <a:pt x="86493" y="535"/>
                </a:lnTo>
                <a:lnTo>
                  <a:pt x="87337" y="769"/>
                </a:lnTo>
                <a:lnTo>
                  <a:pt x="88170" y="1044"/>
                </a:lnTo>
                <a:lnTo>
                  <a:pt x="88988" y="1359"/>
                </a:lnTo>
                <a:lnTo>
                  <a:pt x="89789" y="1715"/>
                </a:lnTo>
                <a:lnTo>
                  <a:pt x="90572" y="2109"/>
                </a:lnTo>
                <a:lnTo>
                  <a:pt x="91335" y="2541"/>
                </a:lnTo>
                <a:lnTo>
                  <a:pt x="92075" y="3010"/>
                </a:lnTo>
                <a:lnTo>
                  <a:pt x="92792" y="3515"/>
                </a:lnTo>
                <a:lnTo>
                  <a:pt x="93483" y="4054"/>
                </a:lnTo>
                <a:lnTo>
                  <a:pt x="94147" y="4626"/>
                </a:lnTo>
                <a:lnTo>
                  <a:pt x="94782" y="5231"/>
                </a:lnTo>
                <a:lnTo>
                  <a:pt x="95386" y="5866"/>
                </a:lnTo>
                <a:lnTo>
                  <a:pt x="95959" y="6530"/>
                </a:lnTo>
                <a:lnTo>
                  <a:pt x="96498" y="7221"/>
                </a:lnTo>
                <a:lnTo>
                  <a:pt x="97003" y="7937"/>
                </a:lnTo>
                <a:lnTo>
                  <a:pt x="97472" y="8678"/>
                </a:lnTo>
                <a:lnTo>
                  <a:pt x="97904" y="9441"/>
                </a:lnTo>
                <a:lnTo>
                  <a:pt x="98298" y="10224"/>
                </a:lnTo>
                <a:lnTo>
                  <a:pt x="98653" y="11025"/>
                </a:lnTo>
                <a:lnTo>
                  <a:pt x="98969" y="11843"/>
                </a:lnTo>
                <a:lnTo>
                  <a:pt x="99243" y="12675"/>
                </a:lnTo>
                <a:lnTo>
                  <a:pt x="99477" y="13520"/>
                </a:lnTo>
                <a:lnTo>
                  <a:pt x="99669" y="14375"/>
                </a:lnTo>
                <a:lnTo>
                  <a:pt x="99819" y="15239"/>
                </a:lnTo>
                <a:lnTo>
                  <a:pt x="99927" y="16109"/>
                </a:lnTo>
                <a:lnTo>
                  <a:pt x="99991" y="16983"/>
                </a:lnTo>
                <a:lnTo>
                  <a:pt x="100013" y="17859"/>
                </a:lnTo>
                <a:lnTo>
                  <a:pt x="100013" y="53578"/>
                </a:lnTo>
                <a:lnTo>
                  <a:pt x="99991" y="54454"/>
                </a:lnTo>
                <a:lnTo>
                  <a:pt x="99927" y="55329"/>
                </a:lnTo>
                <a:lnTo>
                  <a:pt x="99819" y="56199"/>
                </a:lnTo>
                <a:lnTo>
                  <a:pt x="99669" y="57062"/>
                </a:lnTo>
                <a:lnTo>
                  <a:pt x="99477" y="57918"/>
                </a:lnTo>
                <a:lnTo>
                  <a:pt x="99243" y="58762"/>
                </a:lnTo>
                <a:lnTo>
                  <a:pt x="98969" y="59595"/>
                </a:lnTo>
                <a:lnTo>
                  <a:pt x="98653" y="60413"/>
                </a:lnTo>
                <a:lnTo>
                  <a:pt x="98298" y="61214"/>
                </a:lnTo>
                <a:lnTo>
                  <a:pt x="97904" y="61997"/>
                </a:lnTo>
                <a:lnTo>
                  <a:pt x="97472" y="62760"/>
                </a:lnTo>
                <a:lnTo>
                  <a:pt x="97003" y="63500"/>
                </a:lnTo>
                <a:lnTo>
                  <a:pt x="96498" y="64217"/>
                </a:lnTo>
                <a:lnTo>
                  <a:pt x="95959" y="64908"/>
                </a:lnTo>
                <a:lnTo>
                  <a:pt x="95386" y="65572"/>
                </a:lnTo>
                <a:lnTo>
                  <a:pt x="94782" y="66207"/>
                </a:lnTo>
                <a:lnTo>
                  <a:pt x="94147" y="66811"/>
                </a:lnTo>
                <a:lnTo>
                  <a:pt x="93483" y="67384"/>
                </a:lnTo>
                <a:lnTo>
                  <a:pt x="92792" y="67923"/>
                </a:lnTo>
                <a:lnTo>
                  <a:pt x="92075" y="68428"/>
                </a:lnTo>
                <a:lnTo>
                  <a:pt x="91335" y="68897"/>
                </a:lnTo>
                <a:lnTo>
                  <a:pt x="90572" y="69329"/>
                </a:lnTo>
                <a:lnTo>
                  <a:pt x="89789" y="69723"/>
                </a:lnTo>
                <a:lnTo>
                  <a:pt x="88988" y="70078"/>
                </a:lnTo>
                <a:lnTo>
                  <a:pt x="88170" y="70394"/>
                </a:lnTo>
                <a:lnTo>
                  <a:pt x="87337" y="70668"/>
                </a:lnTo>
                <a:lnTo>
                  <a:pt x="86493" y="70902"/>
                </a:lnTo>
                <a:lnTo>
                  <a:pt x="85637" y="71094"/>
                </a:lnTo>
                <a:lnTo>
                  <a:pt x="84774" y="71244"/>
                </a:lnTo>
                <a:lnTo>
                  <a:pt x="83904" y="71352"/>
                </a:lnTo>
                <a:lnTo>
                  <a:pt x="83029" y="71416"/>
                </a:lnTo>
                <a:lnTo>
                  <a:pt x="82153" y="71438"/>
                </a:lnTo>
                <a:lnTo>
                  <a:pt x="17859" y="71438"/>
                </a:lnTo>
                <a:lnTo>
                  <a:pt x="16983" y="71416"/>
                </a:lnTo>
                <a:lnTo>
                  <a:pt x="16109" y="71352"/>
                </a:lnTo>
                <a:lnTo>
                  <a:pt x="15239" y="71244"/>
                </a:lnTo>
                <a:lnTo>
                  <a:pt x="14375" y="71094"/>
                </a:lnTo>
                <a:lnTo>
                  <a:pt x="13520" y="70902"/>
                </a:lnTo>
                <a:lnTo>
                  <a:pt x="12675" y="70668"/>
                </a:lnTo>
                <a:lnTo>
                  <a:pt x="11843" y="70394"/>
                </a:lnTo>
                <a:lnTo>
                  <a:pt x="11025" y="70078"/>
                </a:lnTo>
                <a:lnTo>
                  <a:pt x="10224" y="69723"/>
                </a:lnTo>
                <a:lnTo>
                  <a:pt x="9441" y="69329"/>
                </a:lnTo>
                <a:lnTo>
                  <a:pt x="8678" y="68897"/>
                </a:lnTo>
                <a:lnTo>
                  <a:pt x="7937" y="68428"/>
                </a:lnTo>
                <a:lnTo>
                  <a:pt x="7221" y="67923"/>
                </a:lnTo>
                <a:lnTo>
                  <a:pt x="6530" y="67384"/>
                </a:lnTo>
                <a:lnTo>
                  <a:pt x="5866" y="66811"/>
                </a:lnTo>
                <a:lnTo>
                  <a:pt x="5231" y="66207"/>
                </a:lnTo>
                <a:lnTo>
                  <a:pt x="4626" y="65572"/>
                </a:lnTo>
                <a:lnTo>
                  <a:pt x="4054" y="64908"/>
                </a:lnTo>
                <a:lnTo>
                  <a:pt x="3515" y="64217"/>
                </a:lnTo>
                <a:lnTo>
                  <a:pt x="3010" y="63500"/>
                </a:lnTo>
                <a:lnTo>
                  <a:pt x="2541" y="62760"/>
                </a:lnTo>
                <a:lnTo>
                  <a:pt x="2109" y="61997"/>
                </a:lnTo>
                <a:lnTo>
                  <a:pt x="1715" y="61214"/>
                </a:lnTo>
                <a:lnTo>
                  <a:pt x="1359" y="60413"/>
                </a:lnTo>
                <a:lnTo>
                  <a:pt x="1044" y="59595"/>
                </a:lnTo>
                <a:lnTo>
                  <a:pt x="769" y="58762"/>
                </a:lnTo>
                <a:lnTo>
                  <a:pt x="535" y="57918"/>
                </a:lnTo>
                <a:lnTo>
                  <a:pt x="343" y="57062"/>
                </a:lnTo>
                <a:lnTo>
                  <a:pt x="193" y="56199"/>
                </a:lnTo>
                <a:lnTo>
                  <a:pt x="86" y="55329"/>
                </a:lnTo>
                <a:lnTo>
                  <a:pt x="22" y="54454"/>
                </a:lnTo>
                <a:lnTo>
                  <a:pt x="0" y="53578"/>
                </a:lnTo>
                <a:lnTo>
                  <a:pt x="0" y="17859"/>
                </a:lnTo>
                <a:lnTo>
                  <a:pt x="22" y="16983"/>
                </a:lnTo>
                <a:lnTo>
                  <a:pt x="86" y="16109"/>
                </a:lnTo>
                <a:lnTo>
                  <a:pt x="193" y="15239"/>
                </a:lnTo>
                <a:lnTo>
                  <a:pt x="343" y="14375"/>
                </a:lnTo>
                <a:lnTo>
                  <a:pt x="535" y="13520"/>
                </a:lnTo>
                <a:lnTo>
                  <a:pt x="769" y="12675"/>
                </a:lnTo>
                <a:lnTo>
                  <a:pt x="1044" y="11843"/>
                </a:lnTo>
                <a:lnTo>
                  <a:pt x="1359" y="11025"/>
                </a:lnTo>
                <a:lnTo>
                  <a:pt x="1715" y="10224"/>
                </a:lnTo>
                <a:lnTo>
                  <a:pt x="2109" y="9441"/>
                </a:lnTo>
                <a:lnTo>
                  <a:pt x="2541" y="8678"/>
                </a:lnTo>
                <a:lnTo>
                  <a:pt x="3010" y="7937"/>
                </a:lnTo>
                <a:lnTo>
                  <a:pt x="3515" y="7221"/>
                </a:lnTo>
                <a:lnTo>
                  <a:pt x="4054" y="6530"/>
                </a:lnTo>
                <a:lnTo>
                  <a:pt x="4626" y="5866"/>
                </a:lnTo>
                <a:lnTo>
                  <a:pt x="5231" y="5231"/>
                </a:lnTo>
                <a:lnTo>
                  <a:pt x="5866" y="4626"/>
                </a:lnTo>
                <a:lnTo>
                  <a:pt x="6530" y="4054"/>
                </a:lnTo>
                <a:lnTo>
                  <a:pt x="7221" y="3515"/>
                </a:lnTo>
                <a:lnTo>
                  <a:pt x="7937" y="3010"/>
                </a:lnTo>
                <a:lnTo>
                  <a:pt x="8678" y="2541"/>
                </a:lnTo>
                <a:lnTo>
                  <a:pt x="9441" y="2109"/>
                </a:lnTo>
                <a:lnTo>
                  <a:pt x="10224" y="1715"/>
                </a:lnTo>
                <a:lnTo>
                  <a:pt x="11025" y="1359"/>
                </a:lnTo>
                <a:lnTo>
                  <a:pt x="11843" y="1044"/>
                </a:lnTo>
                <a:lnTo>
                  <a:pt x="12675" y="769"/>
                </a:lnTo>
                <a:lnTo>
                  <a:pt x="13520" y="535"/>
                </a:lnTo>
                <a:lnTo>
                  <a:pt x="14375" y="343"/>
                </a:lnTo>
                <a:lnTo>
                  <a:pt x="15239" y="193"/>
                </a:lnTo>
                <a:lnTo>
                  <a:pt x="16109" y="86"/>
                </a:lnTo>
                <a:lnTo>
                  <a:pt x="16983" y="22"/>
                </a:lnTo>
                <a:lnTo>
                  <a:pt x="17859" y="0"/>
                </a:lnTo>
              </a:path>
            </a:pathLst>
          </a:custGeom>
          <a:solidFill>
            <a:srgbClr val="0F4C81"/>
          </a:solidFill>
          <a:ln/>
        </p:spPr>
      </p:sp>
      <p:sp>
        <p:nvSpPr>
          <p:cNvPr id="51" name="Text 49"/>
          <p:cNvSpPr/>
          <p:nvPr/>
        </p:nvSpPr>
        <p:spPr>
          <a:xfrm>
            <a:off x="7958138" y="1990918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纯前端端侧推理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7822406" y="2008063"/>
            <a:ext cx="735806" cy="85725"/>
          </a:xfrm>
          <a:custGeom>
            <a:avLst/>
            <a:gdLst/>
            <a:ahLst/>
            <a:cxnLst/>
            <a:rect l="l" t="t" r="r" b="b"/>
            <a:pathLst>
              <a:path w="735806" h="85725">
                <a:moveTo>
                  <a:pt x="0" y="0"/>
                </a:moveTo>
                <a:lnTo>
                  <a:pt x="735806" y="0"/>
                </a:lnTo>
                <a:lnTo>
                  <a:pt x="735806" y="85725"/>
                </a:lnTo>
                <a:lnTo>
                  <a:pt x="0" y="85725"/>
                </a:lnTo>
                <a:close/>
              </a:path>
            </a:pathLst>
          </a:custGeom>
          <a:noFill/>
          <a:ln/>
        </p:spPr>
      </p:sp>
      <p:sp>
        <p:nvSpPr>
          <p:cNvPr id="53" name="Text 51"/>
          <p:cNvSpPr/>
          <p:nvPr/>
        </p:nvSpPr>
        <p:spPr>
          <a:xfrm>
            <a:off x="457200" y="227149"/>
            <a:ext cx="1000125" cy="2428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创新点总结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457200" y="511448"/>
            <a:ext cx="834390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提炼纯前端端侧推理方案核心优势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64344" y="897210"/>
            <a:ext cx="185738" cy="185738"/>
          </a:xfrm>
          <a:prstGeom prst="roundRect">
            <a:avLst>
              <a:gd name="adj" fmla="val 28402"/>
            </a:avLst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07231" y="907926"/>
            <a:ext cx="642938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零服务器部署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64344" y="1140098"/>
            <a:ext cx="1785938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静态托管即可运行，无需 GPU 服务器与后端运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607469" y="897210"/>
            <a:ext cx="185738" cy="185738"/>
          </a:xfrm>
          <a:prstGeom prst="roundRect">
            <a:avLst>
              <a:gd name="adj" fmla="val 28402"/>
            </a:avLst>
          </a:prstGeom>
          <a:solidFill>
            <a:srgbClr val="14B8A6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851696" y="907926"/>
            <a:ext cx="578644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端侧 AI 推理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607469" y="1140098"/>
            <a:ext cx="17859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onnxruntime-web 浏览器内完成四病种推理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750594" y="897210"/>
            <a:ext cx="185738" cy="185738"/>
          </a:xfrm>
          <a:prstGeom prst="roundRect">
            <a:avLst>
              <a:gd name="adj" fmla="val 28402"/>
            </a:avLst>
          </a:prstGeom>
          <a:solidFill>
            <a:srgbClr val="0F4C8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993481" y="907926"/>
            <a:ext cx="750094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物理级隐私隔离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50594" y="1140098"/>
            <a:ext cx="17859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数据全程不出浏览器，IndexedDB 本地存储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893719" y="897210"/>
            <a:ext cx="185738" cy="185738"/>
          </a:xfrm>
          <a:prstGeom prst="roundRect">
            <a:avLst>
              <a:gd name="adj" fmla="val 28402"/>
            </a:avLst>
          </a:prstGeom>
          <a:solidFill>
            <a:srgbClr val="14B8A6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135992" y="907926"/>
            <a:ext cx="807244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INT8 模型轻量化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93719" y="1140098"/>
            <a:ext cx="17859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静态量化压缩体积，浏览器可加载可推理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77515" y="1738387"/>
            <a:ext cx="2357438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传统后端部署 vs 纯前端端侧推理 · 五维优势对比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816769" y="1759818"/>
            <a:ext cx="85010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评分越高越优（满分 5）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42119" y="4852392"/>
            <a:ext cx="1321594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基层眼底 AI 辅助筛查系统 · 纯前端版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408194" y="4852392"/>
            <a:ext cx="39290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创新点总结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82178"/>
            <a:ext cx="42863" cy="200025"/>
          </a:xfrm>
          <a:prstGeom prst="roundRect">
            <a:avLst>
              <a:gd name="adj" fmla="val 266664"/>
            </a:avLst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344072" y="786259"/>
            <a:ext cx="1335881" cy="678656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8022" y="786259"/>
            <a:ext cx="1335881" cy="678656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91973" y="786259"/>
            <a:ext cx="1335881" cy="678656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5979" y="786259"/>
            <a:ext cx="1335881" cy="678656"/>
          </a:xfrm>
          <a:prstGeom prst="roundRect">
            <a:avLst>
              <a:gd name="adj" fmla="val 4255"/>
            </a:avLst>
          </a:prstGeom>
          <a:solidFill>
            <a:srgbClr val="E6F7F5"/>
          </a:solidFill>
          <a:ln w="6191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9985" y="786259"/>
            <a:ext cx="1335881" cy="678656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3935" y="786259"/>
            <a:ext cx="1335881" cy="678656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" y="1823889"/>
            <a:ext cx="2743200" cy="3021806"/>
          </a:xfrm>
          <a:prstGeom prst="roundRect">
            <a:avLst>
              <a:gd name="adj" fmla="val 1042"/>
            </a:avLst>
          </a:prstGeom>
          <a:solidFill>
            <a:srgbClr val="0F4C81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1823889"/>
            <a:ext cx="2743200" cy="3021806"/>
          </a:xfrm>
          <a:prstGeom prst="roundRect">
            <a:avLst>
              <a:gd name="adj" fmla="val 1042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0419" y="3220492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50419" y="3420517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3350419" y="3620542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7900" y="1823889"/>
            <a:ext cx="2743200" cy="3021806"/>
          </a:xfrm>
          <a:prstGeom prst="roundRect">
            <a:avLst>
              <a:gd name="adj" fmla="val 1042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7919" y="3220492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07919" y="3420517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7919" y="3620542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845248"/>
            <a:ext cx="9144000" cy="300038"/>
          </a:xfrm>
          <a:prstGeom prst="rect">
            <a:avLst/>
          </a:prstGeom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45248"/>
            <a:ext cx="9144000" cy="30003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71488" y="257175"/>
            <a:ext cx="3000375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演示流程展示系统端到端筛查能力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1488" y="550069"/>
            <a:ext cx="832961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从眼底图像上传到 PDF 报告输出的完整端侧推理链路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50000" y="891183"/>
            <a:ext cx="207169" cy="150019"/>
          </a:xfrm>
          <a:prstGeom prst="roundRect">
            <a:avLst>
              <a:gd name="adj" fmla="val 29025"/>
            </a:avLst>
          </a:prstGeom>
          <a:solidFill>
            <a:srgbClr val="0F4C81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351006" y="905470"/>
            <a:ext cx="22145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≈0.5s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51228" y="1094780"/>
            <a:ext cx="112156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图像上传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51228" y="1250603"/>
            <a:ext cx="112156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浏览器本地选择眼底图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873951" y="891183"/>
            <a:ext cx="207169" cy="150019"/>
          </a:xfrm>
          <a:prstGeom prst="roundRect">
            <a:avLst>
              <a:gd name="adj" fmla="val 29025"/>
            </a:avLst>
          </a:prstGeom>
          <a:solidFill>
            <a:srgbClr val="0F4C81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774956" y="905470"/>
            <a:ext cx="22145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≈0.3s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875179" y="1094780"/>
            <a:ext cx="112156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图像预处理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875179" y="1250603"/>
            <a:ext cx="112156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缩放归一化与通道转换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3297901" y="891183"/>
            <a:ext cx="207169" cy="150019"/>
          </a:xfrm>
          <a:prstGeom prst="roundRect">
            <a:avLst>
              <a:gd name="adj" fmla="val 29025"/>
            </a:avLst>
          </a:prstGeom>
          <a:solidFill>
            <a:srgbClr val="0F4C81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198906" y="905470"/>
            <a:ext cx="22145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≈1.5s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299129" y="1094780"/>
            <a:ext cx="112156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模型加载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3299129" y="1250603"/>
            <a:ext cx="112156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INT8 ONNX 首次加载缓存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721851" y="891183"/>
            <a:ext cx="207169" cy="150019"/>
          </a:xfrm>
          <a:prstGeom prst="roundRect">
            <a:avLst>
              <a:gd name="adj" fmla="val 29025"/>
            </a:avLst>
          </a:prstGeom>
          <a:solidFill>
            <a:srgbClr val="14B8A6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488353" y="905470"/>
            <a:ext cx="357187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≈3.76ms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723135" y="1094780"/>
            <a:ext cx="112156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ONNX 推理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723135" y="1250603"/>
            <a:ext cx="112156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四病种概率同步输出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6145913" y="891183"/>
            <a:ext cx="207169" cy="150019"/>
          </a:xfrm>
          <a:prstGeom prst="roundRect">
            <a:avLst>
              <a:gd name="adj" fmla="val 29025"/>
            </a:avLst>
          </a:prstGeom>
          <a:solidFill>
            <a:srgbClr val="0F4C81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046919" y="905470"/>
            <a:ext cx="22145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≈0.1s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6147141" y="1094780"/>
            <a:ext cx="112156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阈值判定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147141" y="1250603"/>
            <a:ext cx="112156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对照阈值表生成结论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7569864" y="891183"/>
            <a:ext cx="207169" cy="150019"/>
          </a:xfrm>
          <a:prstGeom prst="roundRect">
            <a:avLst>
              <a:gd name="adj" fmla="val 29025"/>
            </a:avLst>
          </a:prstGeom>
          <a:solidFill>
            <a:srgbClr val="0F4C81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470869" y="905470"/>
            <a:ext cx="22145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≈0.8s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7571091" y="1094780"/>
            <a:ext cx="112156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PDF 报告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571091" y="1250603"/>
            <a:ext cx="112156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前端生成规范筛查报告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3153296" y="1579662"/>
            <a:ext cx="3429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本地图像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3539058" y="1579662"/>
            <a:ext cx="857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3667646" y="1579662"/>
            <a:ext cx="2571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预处理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3967683" y="1579662"/>
            <a:ext cx="857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4096271" y="1579662"/>
            <a:ext cx="3429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模型加载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4482033" y="1579662"/>
            <a:ext cx="857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610621" y="1579662"/>
            <a:ext cx="3429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端侧推理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996383" y="1579662"/>
            <a:ext cx="857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124971" y="1579662"/>
            <a:ext cx="3429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阈值判定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5510733" y="1579662"/>
            <a:ext cx="857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5639935" y="1579662"/>
            <a:ext cx="350044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PDF 输出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485775" y="3032968"/>
            <a:ext cx="24574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端到端总耗时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485775" y="3190131"/>
            <a:ext cx="2604897" cy="2714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≈3.2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</a:t>
            </a:r>
            <a:endParaRPr lang="en-US" sz="2100" dirty="0"/>
          </a:p>
        </p:txBody>
      </p:sp>
      <p:sp>
        <p:nvSpPr>
          <p:cNvPr id="59" name="Text 56"/>
          <p:cNvSpPr/>
          <p:nvPr/>
        </p:nvSpPr>
        <p:spPr>
          <a:xfrm>
            <a:off x="485775" y="3516957"/>
            <a:ext cx="2457450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冷启动加载 ≈1.5s；纯推理仅 3.76ms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3350419" y="2963317"/>
            <a:ext cx="2443163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演示验证要点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3450431" y="3177629"/>
            <a:ext cx="12001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全程浏览器内完成，零网络请求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3450431" y="3377654"/>
            <a:ext cx="8572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四病种概率一次性输出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3450431" y="3577679"/>
            <a:ext cx="12001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报告含图像、概率、结论与建议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6207919" y="2963317"/>
            <a:ext cx="2443163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隐私合规验证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6307931" y="3177629"/>
            <a:ext cx="8572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图像不离开浏览器内存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6309438" y="3377654"/>
            <a:ext cx="96440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结果可选存入 IndexedDB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6307931" y="3577679"/>
            <a:ext cx="9429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关闭页面即物理清除痕迹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342119" y="4938117"/>
            <a:ext cx="1321594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基层眼底 AI 辅助筛查系统 · 纯前端版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7665467" y="4938117"/>
            <a:ext cx="113585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演示流程 · 端到端筛查能力验证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23242"/>
            <a:ext cx="28575" cy="185738"/>
          </a:xfrm>
          <a:prstGeom prst="roundRect">
            <a:avLst>
              <a:gd name="adj" fmla="val 400000"/>
            </a:avLst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" y="753666"/>
            <a:ext cx="42863" cy="42863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42912" y="700088"/>
            <a:ext cx="199524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模型迭代路线图：体积与推理耗时演进趋势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43235" y="908038"/>
            <a:ext cx="5036344" cy="3607594"/>
          </a:xfrm>
          <a:prstGeom prst="roundRect">
            <a:avLst>
              <a:gd name="adj" fmla="val 602"/>
            </a:avLst>
          </a:prstGeom>
          <a:solidFill>
            <a:srgbClr val="FFFFFF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" y="4132659"/>
            <a:ext cx="430053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" y="3782616"/>
            <a:ext cx="430053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439716"/>
            <a:ext cx="430053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" y="3096816"/>
            <a:ext cx="430053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2746772"/>
            <a:ext cx="430053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" y="2403872"/>
            <a:ext cx="430053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2060972"/>
            <a:ext cx="430053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" y="1710928"/>
            <a:ext cx="430053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" y="1368028"/>
            <a:ext cx="4300538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" y="4132659"/>
            <a:ext cx="430053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0051" y="406908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410051" y="3723501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410051" y="337792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410051" y="303234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410051" y="2686764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410051" y="234118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410051" y="199560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410051" y="1650028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10051" y="1304449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988695" y="416909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1473756" y="4169093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 Q4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2333863" y="4169093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 Q1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3193971" y="4169093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 Q2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4054078" y="4169093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 Q3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1230154" y="1613273"/>
            <a:ext cx="3440430" cy="1824657"/>
          </a:xfrm>
          <a:custGeom>
            <a:avLst/>
            <a:gdLst/>
            <a:ahLst/>
            <a:cxnLst/>
            <a:rect l="l" t="t" r="r" b="b"/>
            <a:pathLst>
              <a:path w="3440430" h="1824657">
                <a:moveTo>
                  <a:pt x="0" y="0"/>
                </a:moveTo>
                <a:lnTo>
                  <a:pt x="860107" y="615130"/>
                </a:lnTo>
                <a:lnTo>
                  <a:pt x="1720215" y="1133499"/>
                </a:lnTo>
                <a:lnTo>
                  <a:pt x="2580323" y="1548194"/>
                </a:lnTo>
                <a:lnTo>
                  <a:pt x="3440430" y="1824657"/>
                </a:lnTo>
              </a:path>
            </a:pathLst>
          </a:custGeom>
          <a:noFill/>
          <a:ln w="15875">
            <a:solidFill>
              <a:srgbClr val="0F4C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30154" y="2829711"/>
            <a:ext cx="3440430" cy="608219"/>
          </a:xfrm>
          <a:custGeom>
            <a:avLst/>
            <a:gdLst/>
            <a:ahLst/>
            <a:cxnLst/>
            <a:rect l="l" t="t" r="r" b="b"/>
            <a:pathLst>
              <a:path w="3440430" h="608219">
                <a:moveTo>
                  <a:pt x="0" y="0"/>
                </a:moveTo>
                <a:lnTo>
                  <a:pt x="860107" y="193524"/>
                </a:lnTo>
                <a:lnTo>
                  <a:pt x="1720215" y="331756"/>
                </a:lnTo>
                <a:lnTo>
                  <a:pt x="2580323" y="435429"/>
                </a:lnTo>
                <a:lnTo>
                  <a:pt x="3440430" y="608219"/>
                </a:lnTo>
              </a:path>
            </a:pathLst>
          </a:custGeom>
          <a:noFill/>
          <a:ln w="15875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05151" y="1588270"/>
            <a:ext cx="50006" cy="50006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3" name="Shape 31"/>
          <p:cNvSpPr/>
          <p:nvPr/>
        </p:nvSpPr>
        <p:spPr>
          <a:xfrm>
            <a:off x="2065258" y="2203400"/>
            <a:ext cx="50006" cy="50006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4" name="Shape 32"/>
          <p:cNvSpPr/>
          <p:nvPr/>
        </p:nvSpPr>
        <p:spPr>
          <a:xfrm>
            <a:off x="2925366" y="2721769"/>
            <a:ext cx="50006" cy="50006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5" name="Shape 33"/>
          <p:cNvSpPr/>
          <p:nvPr/>
        </p:nvSpPr>
        <p:spPr>
          <a:xfrm>
            <a:off x="3785473" y="3136463"/>
            <a:ext cx="50006" cy="50006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6" name="Shape 34"/>
          <p:cNvSpPr/>
          <p:nvPr/>
        </p:nvSpPr>
        <p:spPr>
          <a:xfrm>
            <a:off x="4645581" y="3412927"/>
            <a:ext cx="50006" cy="50006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5151" y="2804708"/>
            <a:ext cx="50006" cy="5000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8" name="Shape 36"/>
          <p:cNvSpPr/>
          <p:nvPr/>
        </p:nvSpPr>
        <p:spPr>
          <a:xfrm>
            <a:off x="2065258" y="2998232"/>
            <a:ext cx="50006" cy="5000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9" name="Shape 37"/>
          <p:cNvSpPr/>
          <p:nvPr/>
        </p:nvSpPr>
        <p:spPr>
          <a:xfrm>
            <a:off x="2925366" y="3136463"/>
            <a:ext cx="50006" cy="5000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0" name="Shape 38"/>
          <p:cNvSpPr/>
          <p:nvPr/>
        </p:nvSpPr>
        <p:spPr>
          <a:xfrm>
            <a:off x="3785473" y="3240137"/>
            <a:ext cx="50006" cy="5000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1" name="Shape 39"/>
          <p:cNvSpPr/>
          <p:nvPr/>
        </p:nvSpPr>
        <p:spPr>
          <a:xfrm>
            <a:off x="4645581" y="3412927"/>
            <a:ext cx="50006" cy="5000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2" name="Text 40"/>
          <p:cNvSpPr/>
          <p:nvPr/>
        </p:nvSpPr>
        <p:spPr>
          <a:xfrm>
            <a:off x="838676" y="145325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7.28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1773793" y="206838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5.5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2783919" y="258675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3494008" y="300144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2.8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4504134" y="327791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88" dirty="0"/>
          </a:p>
        </p:txBody>
      </p:sp>
      <p:sp>
        <p:nvSpPr>
          <p:cNvPr id="47" name="Text 45"/>
          <p:cNvSpPr/>
          <p:nvPr/>
        </p:nvSpPr>
        <p:spPr>
          <a:xfrm>
            <a:off x="838676" y="286971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3.76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1773793" y="3063240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3.2</a:t>
            </a:r>
            <a:endParaRPr lang="en-US" sz="788" dirty="0"/>
          </a:p>
        </p:txBody>
      </p:sp>
      <p:sp>
        <p:nvSpPr>
          <p:cNvPr id="49" name="Text 47"/>
          <p:cNvSpPr/>
          <p:nvPr/>
        </p:nvSpPr>
        <p:spPr>
          <a:xfrm>
            <a:off x="2633901" y="320147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2.8</a:t>
            </a:r>
            <a:endParaRPr lang="en-US" sz="788" dirty="0"/>
          </a:p>
        </p:txBody>
      </p:sp>
      <p:sp>
        <p:nvSpPr>
          <p:cNvPr id="50" name="Text 48"/>
          <p:cNvSpPr/>
          <p:nvPr/>
        </p:nvSpPr>
        <p:spPr>
          <a:xfrm>
            <a:off x="3494008" y="330514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2.5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4504134" y="347793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4B8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2117822" y="1057275"/>
            <a:ext cx="1486500" cy="157163"/>
          </a:xfrm>
          <a:custGeom>
            <a:avLst/>
            <a:gdLst/>
            <a:ahLst/>
            <a:cxnLst/>
            <a:rect l="l" t="t" r="r" b="b"/>
            <a:pathLst>
              <a:path w="1486500" h="157163">
                <a:moveTo>
                  <a:pt x="0" y="0"/>
                </a:moveTo>
                <a:lnTo>
                  <a:pt x="1486500" y="0"/>
                </a:lnTo>
                <a:lnTo>
                  <a:pt x="1486500" y="157163"/>
                </a:lnTo>
                <a:lnTo>
                  <a:pt x="0" y="157163"/>
                </a:lnTo>
                <a:close/>
              </a:path>
            </a:pathLst>
          </a:custGeom>
          <a:noFill/>
          <a:ln/>
        </p:spPr>
      </p:sp>
      <p:sp>
        <p:nvSpPr>
          <p:cNvPr id="53" name="Shape 51"/>
          <p:cNvSpPr/>
          <p:nvPr/>
        </p:nvSpPr>
        <p:spPr>
          <a:xfrm>
            <a:off x="2160684" y="1135856"/>
            <a:ext cx="100012" cy="0"/>
          </a:xfrm>
          <a:prstGeom prst="line">
            <a:avLst/>
          </a:prstGeom>
          <a:noFill/>
          <a:ln w="12700">
            <a:solidFill>
              <a:srgbClr val="0F4C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87831" y="1112996"/>
            <a:ext cx="45720" cy="457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55" name="Text 53"/>
          <p:cNvSpPr/>
          <p:nvPr/>
        </p:nvSpPr>
        <p:spPr>
          <a:xfrm>
            <a:off x="2296416" y="1075849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模型体积(MB)</a:t>
            </a:r>
            <a:endParaRPr lang="en-US" sz="788" dirty="0"/>
          </a:p>
        </p:txBody>
      </p:sp>
      <p:sp>
        <p:nvSpPr>
          <p:cNvPr id="56" name="Shape 54"/>
          <p:cNvSpPr/>
          <p:nvPr/>
        </p:nvSpPr>
        <p:spPr>
          <a:xfrm>
            <a:off x="2153541" y="1092994"/>
            <a:ext cx="680581" cy="85725"/>
          </a:xfrm>
          <a:custGeom>
            <a:avLst/>
            <a:gdLst/>
            <a:ahLst/>
            <a:cxnLst/>
            <a:rect l="l" t="t" r="r" b="b"/>
            <a:pathLst>
              <a:path w="680581" h="85725">
                <a:moveTo>
                  <a:pt x="0" y="0"/>
                </a:moveTo>
                <a:lnTo>
                  <a:pt x="680581" y="0"/>
                </a:lnTo>
                <a:lnTo>
                  <a:pt x="680581" y="85725"/>
                </a:lnTo>
                <a:lnTo>
                  <a:pt x="0" y="85725"/>
                </a:lnTo>
                <a:close/>
              </a:path>
            </a:pathLst>
          </a:custGeom>
          <a:noFill/>
          <a:ln/>
        </p:spPr>
      </p:sp>
      <p:sp>
        <p:nvSpPr>
          <p:cNvPr id="57" name="Shape 55"/>
          <p:cNvSpPr/>
          <p:nvPr/>
        </p:nvSpPr>
        <p:spPr>
          <a:xfrm>
            <a:off x="2912703" y="1135856"/>
            <a:ext cx="100013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39850" y="1112996"/>
            <a:ext cx="45720" cy="457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9" name="Text 57"/>
          <p:cNvSpPr/>
          <p:nvPr/>
        </p:nvSpPr>
        <p:spPr>
          <a:xfrm>
            <a:off x="3048435" y="1075849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推理耗时(ms)</a:t>
            </a:r>
            <a:endParaRPr lang="en-US" sz="788" dirty="0"/>
          </a:p>
        </p:txBody>
      </p:sp>
      <p:sp>
        <p:nvSpPr>
          <p:cNvPr id="60" name="Shape 58"/>
          <p:cNvSpPr/>
          <p:nvPr/>
        </p:nvSpPr>
        <p:spPr>
          <a:xfrm>
            <a:off x="2905560" y="1092994"/>
            <a:ext cx="663044" cy="85725"/>
          </a:xfrm>
          <a:custGeom>
            <a:avLst/>
            <a:gdLst/>
            <a:ahLst/>
            <a:cxnLst/>
            <a:rect l="l" t="t" r="r" b="b"/>
            <a:pathLst>
              <a:path w="663044" h="85725">
                <a:moveTo>
                  <a:pt x="0" y="0"/>
                </a:moveTo>
                <a:lnTo>
                  <a:pt x="663044" y="0"/>
                </a:lnTo>
                <a:lnTo>
                  <a:pt x="663044" y="85725"/>
                </a:lnTo>
                <a:lnTo>
                  <a:pt x="0" y="85725"/>
                </a:lnTo>
                <a:close/>
              </a:path>
            </a:pathLst>
          </a:custGeom>
          <a:noFill/>
          <a:ln/>
        </p:spPr>
      </p:sp>
      <p:sp>
        <p:nvSpPr>
          <p:cNvPr id="61" name="Shape 59"/>
          <p:cNvSpPr/>
          <p:nvPr/>
        </p:nvSpPr>
        <p:spPr>
          <a:xfrm>
            <a:off x="5551029" y="698971"/>
            <a:ext cx="3250406" cy="778669"/>
          </a:xfrm>
          <a:prstGeom prst="roundRect">
            <a:avLst>
              <a:gd name="adj" fmla="val 12928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51029" y="2218916"/>
            <a:ext cx="3250406" cy="778669"/>
          </a:xfrm>
          <a:prstGeom prst="roundRect">
            <a:avLst>
              <a:gd name="adj" fmla="val 12928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51029" y="3738860"/>
            <a:ext cx="3250406" cy="778669"/>
          </a:xfrm>
          <a:prstGeom prst="roundRect">
            <a:avLst>
              <a:gd name="adj" fmla="val 12928"/>
            </a:avLst>
          </a:prstGeom>
          <a:solidFill>
            <a:srgbClr val="F1F5F9"/>
          </a:solidFill>
          <a:ln w="6191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2900" y="4629931"/>
            <a:ext cx="8458200" cy="371475"/>
          </a:xfrm>
          <a:prstGeom prst="rect">
            <a:avLst/>
          </a:prstGeom>
          <a:ln/>
        </p:spPr>
      </p:sp>
      <p:pic>
        <p:nvPicPr>
          <p:cNvPr id="6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4629931"/>
            <a:ext cx="8458200" cy="371475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457200" y="198239"/>
            <a:ext cx="3157537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未来工作规划模型迭代与场景扩展方向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542925" y="473273"/>
            <a:ext cx="82581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端侧推理持续轻量化 · 筛查病种与部署场景双线扩展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5672807" y="823317"/>
            <a:ext cx="371475" cy="157163"/>
          </a:xfrm>
          <a:prstGeom prst="roundRect">
            <a:avLst>
              <a:gd name="adj" fmla="val 26446"/>
            </a:avLst>
          </a:prstGeom>
          <a:solidFill>
            <a:srgbClr val="0F4C81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方向一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6101432" y="819745"/>
            <a:ext cx="750094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模型轻量化迭代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5672472" y="1040085"/>
            <a:ext cx="3007519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INT8 静态量化基础上，探索知识蒸馏与混合精度量化，目标模型体积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降至 2MB 以内，端侧推理耗时低于 3ms。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5672807" y="2343262"/>
            <a:ext cx="371475" cy="157163"/>
          </a:xfrm>
          <a:prstGeom prst="roundRect">
            <a:avLst>
              <a:gd name="adj" fmla="val 26446"/>
            </a:avLst>
          </a:prstGeom>
          <a:solidFill>
            <a:srgbClr val="14B8A6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方向二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6101432" y="2339690"/>
            <a:ext cx="642938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筛查病种扩展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5672472" y="2560030"/>
            <a:ext cx="3007519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由当前 DR/ARMD/glaucoma/myopia 四病种扩展至白内障、视网膜脱离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等六至八病种，构建多任务联合推理模型。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5672807" y="3863206"/>
            <a:ext cx="371475" cy="157163"/>
          </a:xfrm>
          <a:prstGeom prst="roundRect">
            <a:avLst>
              <a:gd name="adj" fmla="val 26446"/>
            </a:avLst>
          </a:prstGeom>
          <a:solidFill>
            <a:srgbClr val="0F4C81"/>
          </a:solidFill>
          <a:ln/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方向三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6101432" y="3859634"/>
            <a:ext cx="642938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部署场景拓展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5672472" y="4079974"/>
            <a:ext cx="3007519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从基层卫生院延伸至社区卫生服务站与家庭自筛场景，适配移动端浏览器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与离线 PWA 安装包。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342900" y="4708513"/>
            <a:ext cx="8458200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口播要点：</a:t>
            </a:r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未来工作沿模型迭代与场景扩展双线推进。模型侧持续探索蒸馏与混合精度量化，将体积压至 2MB、推理降至 3ms；病种侧由四病种扩展至六至八病种多任务联合推理；场景侧从基层卫生院延伸至社区与家庭，适配移动端与 PWA 离线安装。</a:t>
            </a:r>
            <a:endParaRPr lang="en-US" sz="7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057650" y="1459446"/>
            <a:ext cx="400050" cy="14288"/>
          </a:xfrm>
          <a:prstGeom prst="roundRect">
            <a:avLst>
              <a:gd name="adj" fmla="val 799972"/>
            </a:avLst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43425" y="1438015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4686300" y="1459446"/>
            <a:ext cx="400050" cy="14288"/>
          </a:xfrm>
          <a:prstGeom prst="roundRect">
            <a:avLst>
              <a:gd name="adj" fmla="val 799972"/>
            </a:avLst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4057650" y="3669655"/>
            <a:ext cx="400050" cy="14288"/>
          </a:xfrm>
          <a:prstGeom prst="roundRect">
            <a:avLst>
              <a:gd name="adj" fmla="val 799972"/>
            </a:avLst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4543425" y="3648224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Shape 6"/>
          <p:cNvSpPr/>
          <p:nvPr/>
        </p:nvSpPr>
        <p:spPr>
          <a:xfrm>
            <a:off x="4686300" y="3669655"/>
            <a:ext cx="400050" cy="14288"/>
          </a:xfrm>
          <a:prstGeom prst="roundRect">
            <a:avLst>
              <a:gd name="adj" fmla="val 799972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439716" y="1896610"/>
            <a:ext cx="2264569" cy="6143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4C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018234" y="2769543"/>
            <a:ext cx="3107531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基层眼底 AI 辅助筛查系统 · 纯前端版答辩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29025" y="3076724"/>
            <a:ext cx="188595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零服务器部署的纯前端端侧推理方案</a:t>
            </a:r>
            <a:endParaRPr lang="en-US" sz="900" dirty="0"/>
          </a:p>
        </p:txBody>
      </p:sp>
      <p:sp>
        <p:nvSpPr>
          <p:cNvPr id="65535" name="wm:hwcld:2026-09-27T14:06:40:8bae8b4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2026-09-27T14:06:51Z</dcterms:created>
  <dcterms:modified xsi:type="dcterms:W3CDTF">2026-09-27T14:06:51Z</dcterms:modified>
  <cp:keywords>AI生成</cp:keywords>
  <dc:description>AI Generated</dc:description>
</cp:coreProperties>
</file>